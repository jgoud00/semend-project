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5b0a5a28124e41" /><Relationship Type="http://schemas.openxmlformats.org/officeDocument/2006/relationships/extended-properties" Target="/docProps/app.xml" Id="Re226c416cb3a40c3" /><Relationship Type="http://schemas.openxmlformats.org/officeDocument/2006/relationships/officeDocument" Target="/ppt/presentation.xml" Id="Rb50cfde7422349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f5686e55ea4a3d"/>
  </p:sldMasterIdLst>
  <p:notesMasterIdLst>
    <p:notesMasterId xmlns:r="http://schemas.openxmlformats.org/officeDocument/2006/relationships" r:id="R5c7ca5e21d9c4a56"/>
  </p:notesMasterIdLst>
  <p:sldIdLst>
    <p:sldId xmlns:r="http://schemas.openxmlformats.org/officeDocument/2006/relationships" id="256" r:id="R5d8beee7ab3840fa"/>
    <p:sldId xmlns:r="http://schemas.openxmlformats.org/officeDocument/2006/relationships" id="257" r:id="R9af9e6e251d94901"/>
    <p:sldId xmlns:r="http://schemas.openxmlformats.org/officeDocument/2006/relationships" id="258" r:id="R972057807b514d0b"/>
    <p:sldId xmlns:r="http://schemas.openxmlformats.org/officeDocument/2006/relationships" id="259" r:id="R6e51a5b88e5b4554"/>
    <p:sldId xmlns:r="http://schemas.openxmlformats.org/officeDocument/2006/relationships" id="260" r:id="R2efde67baccf41ff"/>
    <p:sldId xmlns:r="http://schemas.openxmlformats.org/officeDocument/2006/relationships" id="261" r:id="R68167356da544843"/>
    <p:sldId xmlns:r="http://schemas.openxmlformats.org/officeDocument/2006/relationships" id="262" r:id="R47efd7b4294c4d81"/>
    <p:sldId xmlns:r="http://schemas.openxmlformats.org/officeDocument/2006/relationships" id="263" r:id="R2639402122b04bff"/>
    <p:sldId xmlns:r="http://schemas.openxmlformats.org/officeDocument/2006/relationships" id="264" r:id="R98db2856271b43c3"/>
    <p:sldId xmlns:r="http://schemas.openxmlformats.org/officeDocument/2006/relationships" id="265" r:id="Ra5015741e5c54584"/>
    <p:sldId xmlns:r="http://schemas.openxmlformats.org/officeDocument/2006/relationships" id="266" r:id="R7d47df8c2c0f4da5"/>
    <p:sldId xmlns:r="http://schemas.openxmlformats.org/officeDocument/2006/relationships" id="267" r:id="Rb836710b8a674e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4f99e3cece491d" /><Relationship Type="http://schemas.openxmlformats.org/officeDocument/2006/relationships/slideMaster" Target="/ppt/slideMasters/slideMaster1.xml" Id="Rbef5686e55ea4a3d" /><Relationship Type="http://schemas.openxmlformats.org/officeDocument/2006/relationships/notesMaster" Target="/ppt/notesMasters/notesMaster1.xml" Id="R5c7ca5e21d9c4a56" /><Relationship Type="http://schemas.openxmlformats.org/officeDocument/2006/relationships/presProps" Target="/ppt/presProps.xml" Id="R83e91979f2aa4ee1" /><Relationship Type="http://schemas.openxmlformats.org/officeDocument/2006/relationships/tableStyles" Target="/ppt/tableStyles.xml" Id="R54a98dcce4094769" /><Relationship Type="http://schemas.openxmlformats.org/officeDocument/2006/relationships/slide" Target="/ppt/slides/slide1.xml" Id="R5d8beee7ab3840fa" /><Relationship Type="http://schemas.openxmlformats.org/officeDocument/2006/relationships/slide" Target="/ppt/slides/slide2.xml" Id="R9af9e6e251d94901" /><Relationship Type="http://schemas.openxmlformats.org/officeDocument/2006/relationships/slide" Target="/ppt/slides/slide3.xml" Id="R972057807b514d0b" /><Relationship Type="http://schemas.openxmlformats.org/officeDocument/2006/relationships/slide" Target="/ppt/slides/slide4.xml" Id="R6e51a5b88e5b4554" /><Relationship Type="http://schemas.openxmlformats.org/officeDocument/2006/relationships/slide" Target="/ppt/slides/slide5.xml" Id="R2efde67baccf41ff" /><Relationship Type="http://schemas.openxmlformats.org/officeDocument/2006/relationships/slide" Target="/ppt/slides/slide6.xml" Id="R68167356da544843" /><Relationship Type="http://schemas.openxmlformats.org/officeDocument/2006/relationships/slide" Target="/ppt/slides/slide7.xml" Id="R47efd7b4294c4d81" /><Relationship Type="http://schemas.openxmlformats.org/officeDocument/2006/relationships/slide" Target="/ppt/slides/slide8.xml" Id="R2639402122b04bff" /><Relationship Type="http://schemas.openxmlformats.org/officeDocument/2006/relationships/slide" Target="/ppt/slides/slide9.xml" Id="R98db2856271b43c3" /><Relationship Type="http://schemas.openxmlformats.org/officeDocument/2006/relationships/slide" Target="/ppt/slides/slide10.xml" Id="Ra5015741e5c54584" /><Relationship Type="http://schemas.openxmlformats.org/officeDocument/2006/relationships/slide" Target="/ppt/slides/slide11.xml" Id="R7d47df8c2c0f4da5" /><Relationship Type="http://schemas.openxmlformats.org/officeDocument/2006/relationships/slide" Target="/ppt/slides/slide12.xml" Id="Rb836710b8a674e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1f2933ef38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040cdcbc2c4006" /><Relationship Type="http://schemas.openxmlformats.org/officeDocument/2006/relationships/notesMaster" Target="/ppt/notesMasters/notesMaster1.xml" Id="Rf03a12b72df042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2b434964ac4d41" /><Relationship Type="http://schemas.openxmlformats.org/officeDocument/2006/relationships/notesMaster" Target="/ppt/notesMasters/notesMaster1.xml" Id="Rbede6be0a5b643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a4bbc7619e4927" /><Relationship Type="http://schemas.openxmlformats.org/officeDocument/2006/relationships/notesMaster" Target="/ppt/notesMasters/notesMaster1.xml" Id="R37e7d8c15e224e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e6386325844f75" /><Relationship Type="http://schemas.openxmlformats.org/officeDocument/2006/relationships/notesMaster" Target="/ppt/notesMasters/notesMaster1.xml" Id="Ra1a7cbbddd5849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cb93dab4bd418e" /><Relationship Type="http://schemas.openxmlformats.org/officeDocument/2006/relationships/notesMaster" Target="/ppt/notesMasters/notesMaster1.xml" Id="Rcdf25b2d43ee46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3b452cc3c84b25" /><Relationship Type="http://schemas.openxmlformats.org/officeDocument/2006/relationships/notesMaster" Target="/ppt/notesMasters/notesMaster1.xml" Id="R550873a6a1ae44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a20a0bd0e14b2f" /><Relationship Type="http://schemas.openxmlformats.org/officeDocument/2006/relationships/notesMaster" Target="/ppt/notesMasters/notesMaster1.xml" Id="R69812f3b530a46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4c7cd300fe48ef" /><Relationship Type="http://schemas.openxmlformats.org/officeDocument/2006/relationships/notesMaster" Target="/ppt/notesMasters/notesMaster1.xml" Id="R4c575f141b724b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09ff2eeecc4ee6" /><Relationship Type="http://schemas.openxmlformats.org/officeDocument/2006/relationships/notesMaster" Target="/ppt/notesMasters/notesMaster1.xml" Id="R69acca57e53e4c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ac45aabb124147" /><Relationship Type="http://schemas.openxmlformats.org/officeDocument/2006/relationships/notesMaster" Target="/ppt/notesMasters/notesMaster1.xml" Id="R56dff3bedce145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85f242d3ae4ffe" /><Relationship Type="http://schemas.openxmlformats.org/officeDocument/2006/relationships/notesMaster" Target="/ppt/notesMasters/notesMaster1.xml" Id="Rf499029543ed4b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1a232d41614102" /><Relationship Type="http://schemas.openxmlformats.org/officeDocument/2006/relationships/notesMaster" Target="/ppt/notesMasters/notesMaster1.xml" Id="Rd10c6a1fddb747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project.json. Current deliverable is a synthetic laboratory. The available-hardware design uses Uno, one BioAmp EXG Pill, MPU-6050 and a hand gripper.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docs/ForearmSense_AI_AECD_PBL_REVISED_UNO.md, sections 1.1–1.5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project.json; docs/fixed-hardware-project-map.md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docs/architecture.md; docs/dsp-pipeline.md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docs/dsp-pipeline.md; docs/analog-design.md; results/metrics/trial-seed42.json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results/figures/dashboard-desktop.png, historical saved screenshot;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results/metrics/summary.json; results/metrics/trial-seed42.json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results/ml/metrics.json; results/ml/benchmark-report.md; docs/ml-methodology.md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results/spice/verification.json; docs/verification.md, report alignment record 2026-10-23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 task_protocol; docs/ForearmSense_AI_AECD_PBL_REVISED_UNO.md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project.json; docs/report-alignment.md;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project.json; revised report conclusion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35be00a7243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3f7468a1844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b0a00036f48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0fc48ba1148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ad5e1c9524e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2426487ad43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A0CEE-501B-4971-BD69-BB3A18B1C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09C44F-C614-48A4-9572-A4B567682B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FEBA8E-C221-4AA7-A751-165F2A799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64ED69-3630-45C9-9F7D-5850B4639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93A0FE-761D-4A02-8192-05E8D015AD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09D70C-A09A-4F4B-8305-FFF987731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39A6F9-EAD9-47C8-ADCB-3A1AD8E04E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0AE449-659D-409C-B488-3E77387594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449A49-B99A-4FD5-88CF-76D2B2B33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7C91B2-2B7F-4229-9FCA-CCC3A94DC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ab4ebd390249e9" /><Relationship Type="http://schemas.openxmlformats.org/officeDocument/2006/relationships/slideLayout" Target="/ppt/slideLayouts/slideLayout1.xml" Id="Rc34bc1a36dcd49ec" /><Relationship Type="http://schemas.openxmlformats.org/officeDocument/2006/relationships/slideLayout" Target="/ppt/slideLayouts/slideLayout2.xml" Id="Rf74e6d43eb0844a2" /><Relationship Type="http://schemas.openxmlformats.org/officeDocument/2006/relationships/slideLayout" Target="/ppt/slideLayouts/slideLayout3.xml" Id="R11a64dc335bd4930" /><Relationship Type="http://schemas.openxmlformats.org/officeDocument/2006/relationships/slideLayout" Target="/ppt/slideLayouts/slideLayout4.xml" Id="Rd3fefd3614ab4d05" /><Relationship Type="http://schemas.openxmlformats.org/officeDocument/2006/relationships/slideLayout" Target="/ppt/slideLayouts/slideLayout5.xml" Id="Rb72ab9dd7923408f" /><Relationship Type="http://schemas.openxmlformats.org/officeDocument/2006/relationships/slideLayout" Target="/ppt/slideLayouts/slideLayout6.xml" Id="R19d8e5b6f1b240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4bc1a36dcd49ec"/>
    <p:sldLayoutId xmlns:r="http://schemas.openxmlformats.org/officeDocument/2006/relationships" id="2147483650" r:id="Rf74e6d43eb0844a2"/>
    <p:sldLayoutId xmlns:r="http://schemas.openxmlformats.org/officeDocument/2006/relationships" id="2147483651" r:id="R11a64dc335bd4930"/>
    <p:sldLayoutId xmlns:r="http://schemas.openxmlformats.org/officeDocument/2006/relationships" id="2147483652" r:id="Rd3fefd3614ab4d05"/>
    <p:sldLayoutId xmlns:r="http://schemas.openxmlformats.org/officeDocument/2006/relationships" id="2147483653" r:id="Rb72ab9dd7923408f"/>
    <p:sldLayoutId xmlns:r="http://schemas.openxmlformats.org/officeDocument/2006/relationships" id="2147483654" r:id="R19d8e5b6f1b240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488ef2bf643a1" /><Relationship Type="http://schemas.openxmlformats.org/officeDocument/2006/relationships/notesSlide" Target="/ppt/notesSlides/notesSlide1.xml" Id="R7da645bbde8240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02d3032824ee2" /><Relationship Type="http://schemas.openxmlformats.org/officeDocument/2006/relationships/notesSlide" Target="/ppt/notesSlides/notesSlide2.xml" Id="R666d5871dba149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dde8c9e694677" /><Relationship Type="http://schemas.openxmlformats.org/officeDocument/2006/relationships/notesSlide" Target="/ppt/notesSlides/notesSlide3.xml" Id="R978e4955f1b241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ae58cdbc746a8" /><Relationship Type="http://schemas.openxmlformats.org/officeDocument/2006/relationships/notesSlide" Target="/ppt/notesSlides/notesSlide4.xml" Id="R0a80548368b544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01b8a6178404e" /><Relationship Type="http://schemas.openxmlformats.org/officeDocument/2006/relationships/notesSlide" Target="/ppt/notesSlides/notesSlide5.xml" Id="Ra4fb5b27ed5546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c9141f0754624" /><Relationship Type="http://schemas.openxmlformats.org/officeDocument/2006/relationships/image" Target="/ppt/media/image.png" Id="R6a462c2243ba475c" /><Relationship Type="http://schemas.openxmlformats.org/officeDocument/2006/relationships/notesSlide" Target="/ppt/notesSlides/notesSlide6.xml" Id="R3d22e0a6333f42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91c1235d34202" /><Relationship Type="http://schemas.openxmlformats.org/officeDocument/2006/relationships/chart" Target="/ppt/slides/charts/chart1.xml" Id="R111323af25a74e45" /><Relationship Type="http://schemas.openxmlformats.org/officeDocument/2006/relationships/notesSlide" Target="/ppt/notesSlides/notesSlide7.xml" Id="Rfdd99a85ec324d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6af9519874337" /><Relationship Type="http://schemas.openxmlformats.org/officeDocument/2006/relationships/chart" Target="/ppt/slides/charts/chart2.xml" Id="Rdd9f81bd12d7470c" /><Relationship Type="http://schemas.openxmlformats.org/officeDocument/2006/relationships/notesSlide" Target="/ppt/notesSlides/notesSlide8.xml" Id="Re1ea920ee2574d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502def2f542a2" /><Relationship Type="http://schemas.openxmlformats.org/officeDocument/2006/relationships/notesSlide" Target="/ppt/notesSlides/notesSlide9.xml" Id="R0d27fc4a929248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5300d76204b3f" /><Relationship Type="http://schemas.openxmlformats.org/officeDocument/2006/relationships/notesSlide" Target="/ppt/notesSlides/notesSlide10.xml" Id="R527950daf39f4b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2648c508b4f96" /><Relationship Type="http://schemas.openxmlformats.org/officeDocument/2006/relationships/notesSlide" Target="/ppt/notesSlides/notesSlide11.xml" Id="Rd5e179bf1f2247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21c0769d5403c" /><Relationship Type="http://schemas.openxmlformats.org/officeDocument/2006/relationships/notesSlide" Target="/ppt/notesSlides/notesSlide12.xml" Id="Rbada8d2e9d0743a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50 ms RMS (mV)</c:v>
          </c:tx>
          <c:spPr>
            <a:ln xmlns:a="http://schemas.openxmlformats.org/drawingml/2006/main" w="28575">
              <a:solidFill>
                <a:srgbClr val="00684A"/>
              </a:solidFill>
            </a:ln>
          </c:spPr>
          <c:marker>
            <c:symbol val="none"/>
          </c:marker>
          <c:cat>
            <c:numRef>
              <c:f>'Chart Data'!$A$2:$A$41</c:f>
              <c:numCache>
                <c:formatCode>General</c:formatCode>
                <c:ptCount val="40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  <c:pt idx="5">
                  <c:v>0.25</c:v>
                </c:pt>
                <c:pt idx="6">
                  <c:v>0.30</c:v>
                </c:pt>
                <c:pt idx="7">
                  <c:v>0.35</c:v>
                </c:pt>
                <c:pt idx="8">
                  <c:v>0.40</c:v>
                </c:pt>
                <c:pt idx="9">
                  <c:v>0.45</c:v>
                </c:pt>
                <c:pt idx="10">
                  <c:v>0.50</c:v>
                </c:pt>
                <c:pt idx="11">
                  <c:v>0.55</c:v>
                </c:pt>
                <c:pt idx="12">
                  <c:v>0.60</c:v>
                </c:pt>
                <c:pt idx="13">
                  <c:v>0.65</c:v>
                </c:pt>
                <c:pt idx="14">
                  <c:v>0.70</c:v>
                </c:pt>
                <c:pt idx="15">
                  <c:v>0.75</c:v>
                </c:pt>
                <c:pt idx="16">
                  <c:v>0.80</c:v>
                </c:pt>
                <c:pt idx="17">
                  <c:v>0.85</c:v>
                </c:pt>
                <c:pt idx="18">
                  <c:v>0.90</c:v>
                </c:pt>
                <c:pt idx="19">
                  <c:v>0.95</c:v>
                </c:pt>
                <c:pt idx="20">
                  <c:v>1.00</c:v>
                </c:pt>
                <c:pt idx="21">
                  <c:v>1.05</c:v>
                </c:pt>
                <c:pt idx="22">
                  <c:v>1.10</c:v>
                </c:pt>
                <c:pt idx="23">
                  <c:v>1.15</c:v>
                </c:pt>
                <c:pt idx="24">
                  <c:v>1.20</c:v>
                </c:pt>
                <c:pt idx="25">
                  <c:v>1.25</c:v>
                </c:pt>
                <c:pt idx="26">
                  <c:v>1.30</c:v>
                </c:pt>
                <c:pt idx="27">
                  <c:v>1.35</c:v>
                </c:pt>
                <c:pt idx="28">
                  <c:v>1.40</c:v>
                </c:pt>
                <c:pt idx="29">
                  <c:v>1.45</c:v>
                </c:pt>
                <c:pt idx="30">
                  <c:v>1.50</c:v>
                </c:pt>
                <c:pt idx="31">
                  <c:v>1.55</c:v>
                </c:pt>
                <c:pt idx="32">
                  <c:v>1.60</c:v>
                </c:pt>
                <c:pt idx="33">
                  <c:v>1.65</c:v>
                </c:pt>
                <c:pt idx="34">
                  <c:v>1.70</c:v>
                </c:pt>
                <c:pt idx="35">
                  <c:v>1.75</c:v>
                </c:pt>
                <c:pt idx="36">
                  <c:v>1.80</c:v>
                </c:pt>
                <c:pt idx="37">
                  <c:v>1.85</c:v>
                </c:pt>
                <c:pt idx="38">
                  <c:v>1.90</c:v>
                </c:pt>
                <c:pt idx="39">
                  <c:v>1.95</c:v>
                </c:pt>
              </c:numCache>
            </c:numRef>
          </c:cat>
          <c:val>
            <c:numRef>
              <c:f>'Chart Data'!$B$2:$B$41</c:f>
              <c:numCache>
                <c:formatCode>0.00</c:formatCode>
                <c:ptCount val="40"/>
                <c:pt idx="0">
                  <c:v>0.17720454671</c:v>
                </c:pt>
                <c:pt idx="1">
                  <c:v>0.157317491393</c:v>
                </c:pt>
                <c:pt idx="2">
                  <c:v>0.131808641765</c:v>
                </c:pt>
                <c:pt idx="3">
                  <c:v>0.121377040427</c:v>
                </c:pt>
                <c:pt idx="4">
                  <c:v>0.125941005401</c:v>
                </c:pt>
                <c:pt idx="5">
                  <c:v>0.148112623376</c:v>
                </c:pt>
                <c:pt idx="6">
                  <c:v>0.169242331606</c:v>
                </c:pt>
                <c:pt idx="7">
                  <c:v>0.203239707943</c:v>
                </c:pt>
                <c:pt idx="8">
                  <c:v>0.233732815348</c:v>
                </c:pt>
                <c:pt idx="9">
                  <c:v>0.257266016527</c:v>
                </c:pt>
                <c:pt idx="10">
                  <c:v>0.349077982595</c:v>
                </c:pt>
                <c:pt idx="11">
                  <c:v>0.388639222521</c:v>
                </c:pt>
                <c:pt idx="12">
                  <c:v>0.395862008252</c:v>
                </c:pt>
                <c:pt idx="13">
                  <c:v>0.300616207101</c:v>
                </c:pt>
                <c:pt idx="14">
                  <c:v>0.343700286488</c:v>
                </c:pt>
                <c:pt idx="15">
                  <c:v>0.26819719148</c:v>
                </c:pt>
                <c:pt idx="16">
                  <c:v>0.2567474237</c:v>
                </c:pt>
                <c:pt idx="17">
                  <c:v>0.213840125451</c:v>
                </c:pt>
                <c:pt idx="18">
                  <c:v>0.148436145401</c:v>
                </c:pt>
                <c:pt idx="19">
                  <c:v>0.140520580603</c:v>
                </c:pt>
                <c:pt idx="20">
                  <c:v>0.0904712586739</c:v>
                </c:pt>
                <c:pt idx="21">
                  <c:v>0.0809608876515</c:v>
                </c:pt>
                <c:pt idx="22">
                  <c:v>0.0792813284366</c:v>
                </c:pt>
                <c:pt idx="23">
                  <c:v>0.0812154971306</c:v>
                </c:pt>
                <c:pt idx="24">
                  <c:v>0.080118779121</c:v>
                </c:pt>
                <c:pt idx="25">
                  <c:v>0.0681968186312</c:v>
                </c:pt>
                <c:pt idx="26">
                  <c:v>0.084121559925</c:v>
                </c:pt>
                <c:pt idx="27">
                  <c:v>0.0803055449309</c:v>
                </c:pt>
                <c:pt idx="28">
                  <c:v>0.0925758612047</c:v>
                </c:pt>
                <c:pt idx="29">
                  <c:v>0.10256192803</c:v>
                </c:pt>
                <c:pt idx="30">
                  <c:v>0.114270961004</c:v>
                </c:pt>
                <c:pt idx="31">
                  <c:v>0.147518420231</c:v>
                </c:pt>
                <c:pt idx="32">
                  <c:v>0.236109060655</c:v>
                </c:pt>
                <c:pt idx="33">
                  <c:v>0.206110632012</c:v>
                </c:pt>
                <c:pt idx="34">
                  <c:v>0.319000505971</c:v>
                </c:pt>
                <c:pt idx="35">
                  <c:v>0.317335753318</c:v>
                </c:pt>
                <c:pt idx="36">
                  <c:v>0.381241467765</c:v>
                </c:pt>
                <c:pt idx="37">
                  <c:v>0.339088047397</c:v>
                </c:pt>
                <c:pt idx="38">
                  <c:v>0.306175720118</c:v>
                </c:pt>
                <c:pt idx="39">
                  <c:v>0.326213300255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E4D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Input-referred RMS (mV)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E8F8ED"/>
        </a:solidFill>
      </c:spPr>
    </c:plotArea>
    <c:plotVisOnly val="1"/>
  </c:chart>
  <c:spPr>
    <a:solidFill xmlns:a="http://schemas.openxmlformats.org/drawingml/2006/main">
      <a:srgbClr val="E8F8ED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Random Forest OOF accuracy</c:v>
          </c:tx>
          <c:spPr>
            <a:solidFill xmlns:a="http://schemas.openxmlformats.org/drawingml/2006/main">
              <a:srgbClr val="00684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EMG only</c:v>
                </c:pt>
                <c:pt idx="1">
                  <c:v>IMU only</c:v>
                </c:pt>
                <c:pt idx="2">
                  <c:v>EMG + IMU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0.350877192982</c:v>
                </c:pt>
                <c:pt idx="1">
                  <c:v>0.989473684211</c:v>
                </c:pt>
                <c:pt idx="2">
                  <c:v>0.905263157895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0068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E4D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664AD-E661-43CC-B9CA-C0D681AB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FINAL PROJECT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E2E2F-3AD3-4455-A626-01DF758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DC611-6D04-4D42-A3E3-9112FE54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and motion-based grip activity</a:t>
            </a:r>
          </a:p>
          <a:p xmlns:a="http://schemas.openxmlformats.org/drawingml/2006/main">
            <a: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and stability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BE135-30EF-4B81-B223-30FC52C1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AECD · 25EC1302E</a:t>
            </a:r>
          </a:p>
          <a:p xmlns:a="http://schemas.openxmlformats.org/drawingml/2006/main">
            <a: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KL University, Hyderabad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F4551-5B87-4FBD-8CCE-BA9D82F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 Jaswant Goud   2510040007      G Abhishek   2510040015</a:t>
            </a:r>
          </a:p>
          <a:p xmlns:a="http://schemas.openxmlformats.org/drawingml/2006/main">
            <a: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 GopiChand      2510040023      C Meghasyam  2510040072</a:t>
            </a:r>
          </a:p>
        </p:txBody>
      </p:sp>
    </p:spTree>
    <p:extLst>
      <p:ext uri="{BB962C8B-B14F-4D97-AF65-F5344CB8AC3E}">
        <p14:creationId xmlns:p14="http://schemas.microsoft.com/office/powerpoint/2010/main" val="321921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756B2-48BE-44B9-9480-21757CF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Problem and 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DC6DB-052F-49B9-9C3B-120DCBDE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39EE-D105-4D5B-ABDC-39E4CC54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4EBF3-F2B6-4A0C-9470-697F142F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Muscle activity needs movement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429F4-3337-4D58-B7FD-BCFD6522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EMG describes electrical activation. Motion sensing helps distinguish a steady grip from a grip with hand movement.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7AD3E-8FC3-409B-B886-15CC0F53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Activity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F6869-6126-4731-8265-37E6935C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Identify rest and contraction, then compare activation timing and repetition consistency.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C3ABB-3714-455C-B205-6ABD7D5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43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Movement stability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919C2-A9EC-4D88-8EB3-9D8DBBC8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767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Use acceleration and angular rate to describe movement during the task.</a:t>
            </a:r>
          </a:p>
        </p:txBody>
      </p:sp>
    </p:spTree>
    <p:extLst>
      <p:ext uri="{BB962C8B-B14F-4D97-AF65-F5344CB8AC3E}">
        <p14:creationId xmlns:p14="http://schemas.microsoft.com/office/powerpoint/2010/main" val="1681666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FE94D-49CE-4E8D-A2C3-02FAEEE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Available hardware and its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82253-68AD-4ADF-9A81-CA63BBBD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ED852-4787-4D27-9B01-88885F1C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38FDF-2128-43E1-B032-DAF0B2919DB1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3476625"/>
                <a:gridCol w="459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Measurement boundary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BioAmp EXG Pill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One analog EMG channel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Gain and filtering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Arduino Uno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ADC and serial transport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Revision and rate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MPU-6050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Acceleration and gyro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Ranges and mounting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Hand gripper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Repeatable grip/release task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No force measurement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33004-598F-492A-8C4D-D5170A1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Confirmed inventory. Live acquisition and calibration remain planned.</a:t>
            </a:r>
          </a:p>
        </p:txBody>
      </p:sp>
    </p:spTree>
    <p:extLst>
      <p:ext uri="{BB962C8B-B14F-4D97-AF65-F5344CB8AC3E}">
        <p14:creationId xmlns:p14="http://schemas.microsoft.com/office/powerpoint/2010/main" val="292281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D79DA-88D2-4F1A-93F5-796C6D04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Software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D6AC0-08AB-4987-8E2F-F457D2C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93EEE-1A7B-4C01-9265-08EEFE9F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23367-4C5D-4322-A0BD-70DE1091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63D42-96AC-4989-96D2-653F0AEC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335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Generate a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FD201-39A7-48A6-BDF2-41BA8854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33550"/>
            <a:ext cx="614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Seeded EMG and motion scenarios provide repeatable inputs.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C19D3-5BAA-4DC8-B14F-2AEFD78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CFB86-97A2-4212-B5F4-554C327D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717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Model conditioning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F6D7A-FDEE-493E-B9D5-774646B5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71775"/>
            <a:ext cx="614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Analog gain, filters and ADC simulation expose signal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5EEDE-C341-4037-88B8-26B873BC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57FAF-8586-407D-88C1-410BA738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Extract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93FFD-3AB4-4BDF-BACF-7F6622F4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10000"/>
            <a:ext cx="614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RMS and spectral features summarize EMG. IMU features add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12FAC-ED7D-4C35-BEEB-E7B3AF79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42619-121D-494E-9829-74978D1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482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Review and 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84A47-5E12-466D-A495-44202FE8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48225"/>
            <a:ext cx="614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React dashboard, JSON export and grouped ML benchmarks.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7FD73-15B1-4E0B-9206-961E23B9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531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FastAPI backend + React/TypeScript frontend</a:t>
            </a:r>
          </a:p>
        </p:txBody>
      </p:sp>
    </p:spTree>
    <p:extLst>
      <p:ext uri="{BB962C8B-B14F-4D97-AF65-F5344CB8AC3E}">
        <p14:creationId xmlns:p14="http://schemas.microsoft.com/office/powerpoint/2010/main" val="1277932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5DD26-9D1A-4C81-BEC4-460E2B6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Analog conditioning and digital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C9354-2806-49C3-AAD9-FDF6B0C4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E5BC8-F104-4485-9941-2D5B2F92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ACE19-E4F3-4FD7-8CD9-6C20A1F2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Educational analog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B4D4C-201A-4B2B-A144-77AA813C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20 Hz high-pass</a:t>
            </a:r>
          </a:p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Optional 50 Hz notch</a:t>
            </a:r>
          </a:p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450 Hz low-pass</a:t>
            </a:r>
          </a:p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Modeled gain and 12-bit ADC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84931-E8CF-47C4-AC80-A17110AA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Digital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DA3A1-9585-43FB-B4B7-8CA331CC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288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4 kHz default simulation rate</a:t>
            </a:r>
          </a:p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200 ms windows, 100 ms hop</a:t>
            </a:r>
          </a:p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RMS, MAV and spectral features</a:t>
            </a:r>
          </a:p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FIR decimation for a 1 kHz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B69D1-0F33-4374-9887-C29AADE1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Sampling 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5545B-0684-441C-B324-B3544E5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 250 Hz raw stream has a 125 Hz Nyquist limit. It cannot preserve a 450 Hz EMG band.</a:t>
            </a:r>
          </a:p>
        </p:txBody>
      </p:sp>
    </p:spTree>
    <p:extLst>
      <p:ext uri="{BB962C8B-B14F-4D97-AF65-F5344CB8AC3E}">
        <p14:creationId xmlns:p14="http://schemas.microsoft.com/office/powerpoint/2010/main" val="822003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2B22-7D3B-4BC8-8C8E-6D500FF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Interactive simulation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E3A3-81A6-4AF1-A92D-E3224C3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C43F-C454-4BAA-BBF5-3EE2C5FB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59345-FA38-4DC8-BC9E-5A1AA173DD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62c2243ba475c"/>
          <a:stretch xmlns:a="http://schemas.openxmlformats.org/drawingml/2006/main"/>
        </p:blipFill>
        <p:spPr>
          <a:xfrm xmlns:a="http://schemas.openxmlformats.org/drawingml/2006/main">
            <a:off x="2159166" y="1466850"/>
            <a:ext cx="7873667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43970-FCC5-4D51-A311-7257489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Adjust scenarios, inspect waveforms and export the full numerical trial.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65254-DE03-4B60-A173-39BD8A96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Saved simulation view. Navigation predates report alignment.</a:t>
            </a:r>
          </a:p>
        </p:txBody>
      </p:sp>
    </p:spTree>
    <p:extLst>
      <p:ext uri="{BB962C8B-B14F-4D97-AF65-F5344CB8AC3E}">
        <p14:creationId xmlns:p14="http://schemas.microsoft.com/office/powerpoint/2010/main" val="1907245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5CD4C-F0C2-404D-87A3-E7030E4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Saved signal analysis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8FB4F-53A0-4AFE-BF0A-9A1022DC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4E480-ACF5-4A99-9139-875C4F7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8F563-338C-4A5C-9350-DD8E79A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Seed 42 · 2 seconds · 4 kHz · 8,000 samples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3540023-3164-498F-8223-B37B9F34E932}"/>
              </a:ext>
            </a:extLst>
          </p:cNvPr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704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1323af25a74e4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275EC-735B-4C71-ADED-F2E8224E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0.226 mV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1B15B-5787-44A9-B824-8F2A79A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Whole-trial 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76937-2123-4CE4-A4BC-A6F771C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211.7 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9F0BF-F0E6-45C7-8440-0EEF7701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Mean frequency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04668-BE4A-42D1-8D81-435B8B2D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 modeled clipping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C1549-0098-42F3-9C44-A28BB822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Synthetic ADC-derived signal, referred to the model input. No physiological measurement.</a:t>
            </a:r>
          </a:p>
        </p:txBody>
      </p:sp>
    </p:spTree>
    <p:extLst>
      <p:ext uri="{BB962C8B-B14F-4D97-AF65-F5344CB8AC3E}">
        <p14:creationId xmlns:p14="http://schemas.microsoft.com/office/powerpoint/2010/main" val="1840562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39B59-B998-465D-A835-711A337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Synthetic machine learning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CE8C-05B7-46DB-BB2D-1BA6287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27BF9-C40A-4FDD-890F-05B77414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BEB255D-FF73-44F2-BF25-B6E3E58E0A39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6953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9f81bd12d7470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7868D-FD7B-44B3-AD94-E68F6F7C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Random Forest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0D962-1323-4410-B656-B70A1AD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30 trials</a:t>
            </a:r>
          </a:p>
          <a:p xmlns:a="http://schemas.openxmlformats.org/drawingml/2006/main">
            <a: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570 windows</a:t>
            </a:r>
          </a:p>
          <a:p xmlns:a="http://schemas.openxmlformats.org/drawingml/2006/main">
            <a: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 gesture classes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0A872-0BEC-49BC-9066-3D212F3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3-fold trial-grouped evaluation keeps overlapping windows from the same trial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75BC3-09AE-438E-B953-0C0B084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IMU outperforms fusion here. Programmed movement patterns limit generalization.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2620-2E07-4C2D-9A8F-93FD1B9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Synthetic results only. No independent model-selection holdout or human validation.</a:t>
            </a:r>
          </a:p>
        </p:txBody>
      </p:sp>
    </p:spTree>
    <p:extLst>
      <p:ext uri="{BB962C8B-B14F-4D97-AF65-F5344CB8AC3E}">
        <p14:creationId xmlns:p14="http://schemas.microsoft.com/office/powerpoint/2010/main" val="445555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587D5-B2A6-46A8-A31D-0CB64723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Engineering and software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B199-46BF-4615-926D-5A701FE5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C7B22-426F-4B24-8AB9-F632202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6BDB8-CDCD-48DD-849D-444A87EF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Analog model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33546-D488-4341-80B0-884C6701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Ideal R/C response matched the analytical model within 1.45 × 10⁻⁷ dB.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718CA-8EC9-458C-A8E6-6E9B468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62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SPICE status: partial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223EE-9BC8-44D5-A140-9727A8BC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9552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OPA2376 gain check passed. INA826 compatibility failed the expected-gain 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3A5EC-4AD6-497F-9E3B-026E8C5A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Recorded software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A02DA-8D92-45D2-95FD-A2784253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62 backend tests passed. Production build and ESLint passed.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CB06E-368F-4CC3-9506-88D85777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Browser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0D569-6943-4AD2-9602-92A6C1C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All 7 cases passed across a full run and a targeted rerun.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1AC03-2C60-409D-8EA8-DAA3707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These records verify software and simulation behavior. Physical hardware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618455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DABDD-9289-4913-BB4D-7D2B1DD4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Planned 35-second grip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86F52-6D4C-40DF-A8D9-F598139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3FB67-53F0-4B22-B2C2-F1E276A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1FDA8-131C-4013-8EFE-19E1111E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Three 5-second squeezes, each separated by rest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3D48A-2AE1-4302-8B76-A5577E4084EA}"/>
              </a:ext>
            </a:extLst>
          </p:cNvPr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619625"/>
                <a:gridCol w="4257675"/>
              </a:tblGrid>
              <a:tr h="904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 intervals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Planned observation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0–5, 10–15, 20–25, 30–35 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Baseline and relaxation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Squeeze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5–10, 15–20, 25–30 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Activation and movement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45463-AFA0-4631-87C3-ADF2129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Compare within a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69D7F-582D-4B2B-A4D7-071B5E62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Activation timing, envelope consistency and movement steadiness.</a:t>
            </a:r>
          </a:p>
        </p:txBody>
      </p:sp>
    </p:spTree>
    <p:extLst>
      <p:ext uri="{BB962C8B-B14F-4D97-AF65-F5344CB8AC3E}">
        <p14:creationId xmlns:p14="http://schemas.microsoft.com/office/powerpoint/2010/main" val="13736377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A6E2B-E1E8-4041-BC98-A2054D44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Current completion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77F2B-A19B-400E-B619-F15A1258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56E3F-613A-4658-BE98-639FDA8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48F80-7874-45D8-96DD-814EA70C7C2C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implementation phase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Synthetic EMG and motion generation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Verify firmware, ADC and actual sample timing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Analog/DSP analysis and JSON export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Validated serial ingestion with disconnect handling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Grouped ML training and prediction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Baseline calibration and 35-second acquisition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Engineering checks and local dashboard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Raw recording, replay and real-data evaluation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198DA-65EB-40D4-B7A8-EBEC93E0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Unavailable measurements: grip force, SpO₂ and blood flow. No clinical claims.</a:t>
            </a:r>
          </a:p>
        </p:txBody>
      </p:sp>
    </p:spTree>
    <p:extLst>
      <p:ext uri="{BB962C8B-B14F-4D97-AF65-F5344CB8AC3E}">
        <p14:creationId xmlns:p14="http://schemas.microsoft.com/office/powerpoint/2010/main" val="1052901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2F1E1-3D0F-4AA1-96E5-A1125B0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Conclusion and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67D65-C829-4219-AAF7-7598868C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E249C-2CC8-4FFF-84DF-07F443DA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5A8C0-B03F-4965-8619-F07EC17E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 reproducible laboratory for</a:t>
            </a:r>
          </a:p>
          <a:p xmlns:a="http://schemas.openxmlformats.org/drawingml/2006/main">
            <a: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and movement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35CF1-7F32-440D-9BF9-3EA51FB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The project connects analog signal conditioning, digital analysis and grouped ML evaluation in one local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23693-3D81-4793-83FC-E0C346B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0BE17-11BF-4319-8BDE-2293836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Verify the Uno/BioAmp/MPU-6050 stream, then complete one calibrated, recorded grip session.</a:t>
            </a:r>
          </a:p>
        </p:txBody>
      </p:sp>
    </p:spTree>
    <p:extLst>
      <p:ext uri="{BB962C8B-B14F-4D97-AF65-F5344CB8AC3E}">
        <p14:creationId xmlns:p14="http://schemas.microsoft.com/office/powerpoint/2010/main" val="925878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2026-10-23T17:35:10.2210000Z</dcterms:created>
  <dcterms:modified xsi:type="dcterms:W3CDTF">2026-10-23T17:35:10.2210000Z</dcterms:modified>
</coreProperties>
</file>
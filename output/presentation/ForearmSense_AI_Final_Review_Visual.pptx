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211ca6efd64854" /><Relationship Type="http://schemas.openxmlformats.org/officeDocument/2006/relationships/extended-properties" Target="/docProps/app.xml" Id="Rbffe29527f754e44" /><Relationship Type="http://schemas.openxmlformats.org/officeDocument/2006/relationships/officeDocument" Target="/ppt/presentation.xml" Id="R1934bd62706a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255863debb4c9b"/>
  </p:sldMasterIdLst>
  <p:notesMasterIdLst>
    <p:notesMasterId xmlns:r="http://schemas.openxmlformats.org/officeDocument/2006/relationships" r:id="R03ced4e3f1304dd1"/>
  </p:notesMasterIdLst>
  <p:sldIdLst>
    <p:sldId xmlns:r="http://schemas.openxmlformats.org/officeDocument/2006/relationships" id="256" r:id="Rdb2d9ae89c594ce4"/>
    <p:sldId xmlns:r="http://schemas.openxmlformats.org/officeDocument/2006/relationships" id="257" r:id="Ra377454332b241ac"/>
    <p:sldId xmlns:r="http://schemas.openxmlformats.org/officeDocument/2006/relationships" id="258" r:id="R65aab53f97d8485b"/>
    <p:sldId xmlns:r="http://schemas.openxmlformats.org/officeDocument/2006/relationships" id="259" r:id="Raf4a5525982c42e3"/>
    <p:sldId xmlns:r="http://schemas.openxmlformats.org/officeDocument/2006/relationships" id="260" r:id="R79a9abe3837d426f"/>
    <p:sldId xmlns:r="http://schemas.openxmlformats.org/officeDocument/2006/relationships" id="261" r:id="Rac919f5b08a44a54"/>
    <p:sldId xmlns:r="http://schemas.openxmlformats.org/officeDocument/2006/relationships" id="262" r:id="R4e1e1c00b2a445ba"/>
    <p:sldId xmlns:r="http://schemas.openxmlformats.org/officeDocument/2006/relationships" id="263" r:id="R98b0e937475d484d"/>
    <p:sldId xmlns:r="http://schemas.openxmlformats.org/officeDocument/2006/relationships" id="264" r:id="Rbbb1962399d84f77"/>
    <p:sldId xmlns:r="http://schemas.openxmlformats.org/officeDocument/2006/relationships" id="265" r:id="R63f5991832004cfc"/>
    <p:sldId xmlns:r="http://schemas.openxmlformats.org/officeDocument/2006/relationships" id="266" r:id="R398cbd7e9ba8468f"/>
    <p:sldId xmlns:r="http://schemas.openxmlformats.org/officeDocument/2006/relationships" id="267" r:id="Rf0fd538f07ba4384"/>
    <p:sldId xmlns:r="http://schemas.openxmlformats.org/officeDocument/2006/relationships" id="268" r:id="Rdb7675c0712643d8"/>
    <p:sldId xmlns:r="http://schemas.openxmlformats.org/officeDocument/2006/relationships" id="269" r:id="Rbd4a578a4001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bc743645b4a0a" /><Relationship Type="http://schemas.openxmlformats.org/officeDocument/2006/relationships/slideMaster" Target="/ppt/slideMasters/slideMaster1.xml" Id="R6e255863debb4c9b" /><Relationship Type="http://schemas.openxmlformats.org/officeDocument/2006/relationships/notesMaster" Target="/ppt/notesMasters/notesMaster1.xml" Id="R03ced4e3f1304dd1" /><Relationship Type="http://schemas.openxmlformats.org/officeDocument/2006/relationships/presProps" Target="/ppt/presProps.xml" Id="R11501c37adf94e59" /><Relationship Type="http://schemas.openxmlformats.org/officeDocument/2006/relationships/tableStyles" Target="/ppt/tableStyles.xml" Id="Re2ebc3ed0534447c" /><Relationship Type="http://schemas.openxmlformats.org/officeDocument/2006/relationships/slide" Target="/ppt/slides/slide1.xml" Id="Rdb2d9ae89c594ce4" /><Relationship Type="http://schemas.openxmlformats.org/officeDocument/2006/relationships/slide" Target="/ppt/slides/slide2.xml" Id="Ra377454332b241ac" /><Relationship Type="http://schemas.openxmlformats.org/officeDocument/2006/relationships/slide" Target="/ppt/slides/slide3.xml" Id="R65aab53f97d8485b" /><Relationship Type="http://schemas.openxmlformats.org/officeDocument/2006/relationships/slide" Target="/ppt/slides/slide4.xml" Id="Raf4a5525982c42e3" /><Relationship Type="http://schemas.openxmlformats.org/officeDocument/2006/relationships/slide" Target="/ppt/slides/slide5.xml" Id="R79a9abe3837d426f" /><Relationship Type="http://schemas.openxmlformats.org/officeDocument/2006/relationships/slide" Target="/ppt/slides/slide6.xml" Id="Rac919f5b08a44a54" /><Relationship Type="http://schemas.openxmlformats.org/officeDocument/2006/relationships/slide" Target="/ppt/slides/slide7.xml" Id="R4e1e1c00b2a445ba" /><Relationship Type="http://schemas.openxmlformats.org/officeDocument/2006/relationships/slide" Target="/ppt/slides/slide8.xml" Id="R98b0e937475d484d" /><Relationship Type="http://schemas.openxmlformats.org/officeDocument/2006/relationships/slide" Target="/ppt/slides/slide9.xml" Id="Rbbb1962399d84f77" /><Relationship Type="http://schemas.openxmlformats.org/officeDocument/2006/relationships/slide" Target="/ppt/slides/slide10.xml" Id="R63f5991832004cfc" /><Relationship Type="http://schemas.openxmlformats.org/officeDocument/2006/relationships/slide" Target="/ppt/slides/slide11.xml" Id="R398cbd7e9ba8468f" /><Relationship Type="http://schemas.openxmlformats.org/officeDocument/2006/relationships/slide" Target="/ppt/slides/slide12.xml" Id="Rf0fd538f07ba4384" /><Relationship Type="http://schemas.openxmlformats.org/officeDocument/2006/relationships/slide" Target="/ppt/slides/slide13.xml" Id="Rdb7675c0712643d8" /><Relationship Type="http://schemas.openxmlformats.org/officeDocument/2006/relationships/slide" Target="/ppt/slides/slide14.xml" Id="Rbd4a578a4001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4bd917d97d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4b10a807d2472c" /><Relationship Type="http://schemas.openxmlformats.org/officeDocument/2006/relationships/notesMaster" Target="/ppt/notesMasters/notesMaster1.xml" Id="R81b160d8a33c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6e02c260e427a" /><Relationship Type="http://schemas.openxmlformats.org/officeDocument/2006/relationships/notesMaster" Target="/ppt/notesMasters/notesMaster1.xml" Id="R6ea9e05f08b044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d1064c495241fa" /><Relationship Type="http://schemas.openxmlformats.org/officeDocument/2006/relationships/notesMaster" Target="/ppt/notesMasters/notesMaster1.xml" Id="Rcef17547bf7b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ae54ecef04b40" /><Relationship Type="http://schemas.openxmlformats.org/officeDocument/2006/relationships/notesMaster" Target="/ppt/notesMasters/notesMaster1.xml" Id="R2679ca7bf5be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9458d8c1454785" /><Relationship Type="http://schemas.openxmlformats.org/officeDocument/2006/relationships/notesMaster" Target="/ppt/notesMasters/notesMaster1.xml" Id="R80156f5e732b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52f3686c947db" /><Relationship Type="http://schemas.openxmlformats.org/officeDocument/2006/relationships/notesMaster" Target="/ppt/notesMasters/notesMaster1.xml" Id="Rcab608531ca8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d5bdfa587b4e6e" /><Relationship Type="http://schemas.openxmlformats.org/officeDocument/2006/relationships/notesMaster" Target="/ppt/notesMasters/notesMaster1.xml" Id="R3cbf0c4df219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b8da175234a2b" /><Relationship Type="http://schemas.openxmlformats.org/officeDocument/2006/relationships/notesMaster" Target="/ppt/notesMasters/notesMaster1.xml" Id="R03aa79a3d7d6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08ef08cf52475c" /><Relationship Type="http://schemas.openxmlformats.org/officeDocument/2006/relationships/notesMaster" Target="/ppt/notesMasters/notesMaster1.xml" Id="Rf3232f96f59648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8982b8b4994c8d" /><Relationship Type="http://schemas.openxmlformats.org/officeDocument/2006/relationships/notesMaster" Target="/ppt/notesMasters/notesMaster1.xml" Id="R7e49c8a9cdf148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a2238e7db241c2" /><Relationship Type="http://schemas.openxmlformats.org/officeDocument/2006/relationships/notesMaster" Target="/ppt/notesMasters/notesMaster1.xml" Id="R45408ba5437844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abb7a9a16f4259" /><Relationship Type="http://schemas.openxmlformats.org/officeDocument/2006/relationships/notesMaster" Target="/ppt/notesMasters/notesMaster1.xml" Id="Rb928d47393774a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a743a7daa1453c" /><Relationship Type="http://schemas.openxmlformats.org/officeDocument/2006/relationships/notesMaster" Target="/ppt/notesMasters/notesMaster1.xml" Id="Rcc847a6134264e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3c751b0d804586" /><Relationship Type="http://schemas.openxmlformats.org/officeDocument/2006/relationships/notesMaster" Target="/ppt/notesMasters/notesMaster1.xml" Id="R2981d37c9760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project.json. Current deliverable is a synthetic laboratory. The available-hardware design uses Uno, one BioAmp EXG Pill, MPU-6050 and a hand gripper.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docs/ForearmSense_AI_AECD_PBL_REVISED_UNO.md, sections 1.1–1.5</a:t>
            </a:r>
          </a:p>
          <a:p xmlns:a="http://schemas.openxmlformats.org/drawingml/2006/main">
            <a:r>
              <a:t>Illustration: built-in image generation. Prompt: scientific editorial forearm and hand squeezing a spring gripper, three surface electrodes, white and mint background, forest green accents, no text or clinical claims. Concept only, no validated electrode placement or wiring.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docs/fixed-hardware-project-map.md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project.json; docs/fixed-hardware-project-map.md. Functional diagram only. Live serial ingestion and calibration remain planned. No pin-level wiring or electrode placement is prescribed.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docs/architecture.md; docs/dsp-pipeline.md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docs/dsp-pipeline.md; docs/analog-design.md; results/metrics/trial-seed42.json</a:t>
            </a:r>
          </a:p>
          <a:p xmlns:a="http://schemas.openxmlformats.org/drawingml/2006/main">
            <a:r>
              <a:t>Image source: results/figures/frequency-analysis.png, magnitude panel. This chain is educational and does not describe verified BioAmp hardware settings. FIR output guarantees a passband through 400 Hz.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results/figures/dashboard-desktop.png, historical saved screenshot;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results/metrics/summary.json; results/metrics/trial-seed42.json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docs/ml-methodology.md; results/ml/metrics.json. Three outer folds group windows by trial. StandardScaler stays inside training pipelines. SVM has nested grouped probability calibration. Five models and three modality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results/ml/metrics.json; results/ml/benchmark-report.md; docs/ml-methodology.md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results/spice/verification.json; docs/verification.md, report alignment record 2026-10-23</a:t>
            </a:r>
          </a:p>
          <a:p xmlns:a="http://schemas.openxmlformats.org/drawingml/2006/main">
            <a:r>
              <a:t>Image: results/figures/component-tolerances.png. Candidate Sallen-Key model, ideal buffers, R +/-1%, C +/-5%, notch omitted. Simulation ranges are not guarantees for physical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 task_protocol; docs/ForearmSense_AI_AECD_PBL_REVISED_UNO.md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docs/report-alignment.md;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project.json; revised report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123ab1f08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568fbb9ce44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e675ab19a44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c2e3b324b4f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bc6a03f034d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3826a6e0045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A0CEE-501B-4971-BD69-BB3A18B1C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09C44F-C614-48A4-9572-A4B567682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EBA8E-C221-4AA7-A751-165F2A799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4ED69-3630-45C9-9F7D-5850B4639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93A0FE-761D-4A02-8192-05E8D015A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09D70C-A09A-4F4B-8305-FFF98773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39A6F9-EAD9-47C8-ADCB-3A1AD8E04E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0AE449-659D-409C-B488-3E77387594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449A49-B99A-4FD5-88CF-76D2B2B33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C91B2-2B7F-4229-9FCA-CCC3A94DC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a4549be59e4094" /><Relationship Type="http://schemas.openxmlformats.org/officeDocument/2006/relationships/slideLayout" Target="/ppt/slideLayouts/slideLayout1.xml" Id="R789b0cf219504c3d" /><Relationship Type="http://schemas.openxmlformats.org/officeDocument/2006/relationships/slideLayout" Target="/ppt/slideLayouts/slideLayout2.xml" Id="R86dfe117f590447a" /><Relationship Type="http://schemas.openxmlformats.org/officeDocument/2006/relationships/slideLayout" Target="/ppt/slideLayouts/slideLayout3.xml" Id="Rba905fa756c24352" /><Relationship Type="http://schemas.openxmlformats.org/officeDocument/2006/relationships/slideLayout" Target="/ppt/slideLayouts/slideLayout4.xml" Id="R1126cc1ffb3a41a9" /><Relationship Type="http://schemas.openxmlformats.org/officeDocument/2006/relationships/slideLayout" Target="/ppt/slideLayouts/slideLayout5.xml" Id="R3bd4c7213cdf4035" /><Relationship Type="http://schemas.openxmlformats.org/officeDocument/2006/relationships/slideLayout" Target="/ppt/slideLayouts/slideLayout6.xml" Id="Rff37bd147552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9b0cf219504c3d"/>
    <p:sldLayoutId xmlns:r="http://schemas.openxmlformats.org/officeDocument/2006/relationships" id="2147483650" r:id="R86dfe117f590447a"/>
    <p:sldLayoutId xmlns:r="http://schemas.openxmlformats.org/officeDocument/2006/relationships" id="2147483651" r:id="Rba905fa756c24352"/>
    <p:sldLayoutId xmlns:r="http://schemas.openxmlformats.org/officeDocument/2006/relationships" id="2147483652" r:id="R1126cc1ffb3a41a9"/>
    <p:sldLayoutId xmlns:r="http://schemas.openxmlformats.org/officeDocument/2006/relationships" id="2147483653" r:id="R3bd4c7213cdf4035"/>
    <p:sldLayoutId xmlns:r="http://schemas.openxmlformats.org/officeDocument/2006/relationships" id="2147483654" r:id="Rff37bd147552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693ce5e3f4413" /><Relationship Type="http://schemas.openxmlformats.org/officeDocument/2006/relationships/notesSlide" Target="/ppt/notesSlides/notesSlide1.xml" Id="R7eac951c79ca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7c47f4a384f66" /><Relationship Type="http://schemas.openxmlformats.org/officeDocument/2006/relationships/image" Target="/ppt/media/image.png" Id="R460eb770d93a41f1" /><Relationship Type="http://schemas.openxmlformats.org/officeDocument/2006/relationships/notesSlide" Target="/ppt/notesSlides/notesSlide2.xml" Id="Rf8feb7a6ea4f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79a6f2aac4e59" /><Relationship Type="http://schemas.openxmlformats.org/officeDocument/2006/relationships/notesSlide" Target="/ppt/notesSlides/notesSlide3.xml" Id="R0a58f264a1b3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d5bedc94642c5" /><Relationship Type="http://schemas.openxmlformats.org/officeDocument/2006/relationships/notesSlide" Target="/ppt/notesSlides/notesSlide4.xml" Id="Re2d0a399fcbd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540699fe6434b" /><Relationship Type="http://schemas.openxmlformats.org/officeDocument/2006/relationships/image" Target="/ppt/media/image2.png" Id="R37ff3262cf374704" /><Relationship Type="http://schemas.openxmlformats.org/officeDocument/2006/relationships/notesSlide" Target="/ppt/notesSlides/notesSlide5.xml" Id="Re48f85c6a9b4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4c48ed87143c9" /><Relationship Type="http://schemas.openxmlformats.org/officeDocument/2006/relationships/image" Target="/ppt/media/image3.png" Id="R7c079838acd54928" /><Relationship Type="http://schemas.openxmlformats.org/officeDocument/2006/relationships/notesSlide" Target="/ppt/notesSlides/notesSlide6.xml" Id="R6700fd8c323a47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e433dd1bf4898" /><Relationship Type="http://schemas.openxmlformats.org/officeDocument/2006/relationships/image" Target="/ppt/media/image4.png" Id="R97f2ae2fae9443a5" /><Relationship Type="http://schemas.openxmlformats.org/officeDocument/2006/relationships/notesSlide" Target="/ppt/notesSlides/notesSlide7.xml" Id="R5ba706c567934f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1a5b3b2f148e9" /><Relationship Type="http://schemas.openxmlformats.org/officeDocument/2006/relationships/chart" Target="/ppt/slides/charts/chart1.xml" Id="R6fa9286f28ab4bc5" /><Relationship Type="http://schemas.openxmlformats.org/officeDocument/2006/relationships/notesSlide" Target="/ppt/notesSlides/notesSlide8.xml" Id="R7376795f779d4a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f9662e47c4699" /><Relationship Type="http://schemas.openxmlformats.org/officeDocument/2006/relationships/notesSlide" Target="/ppt/notesSlides/notesSlide9.xml" Id="Rdcf6f1963d1c4c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8c499adbe4c6c" /><Relationship Type="http://schemas.openxmlformats.org/officeDocument/2006/relationships/chart" Target="/ppt/slides/charts/chart2.xml" Id="Rcae500e8fe8444ed" /><Relationship Type="http://schemas.openxmlformats.org/officeDocument/2006/relationships/notesSlide" Target="/ppt/notesSlides/notesSlide10.xml" Id="R395016d6f7ea42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95f16bfaf4be9" /><Relationship Type="http://schemas.openxmlformats.org/officeDocument/2006/relationships/image" Target="/ppt/media/image5.png" Id="R3cb25f1af7f74568" /><Relationship Type="http://schemas.openxmlformats.org/officeDocument/2006/relationships/notesSlide" Target="/ppt/notesSlides/notesSlide11.xml" Id="Rac20c77a664243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31f650db74cc5" /><Relationship Type="http://schemas.openxmlformats.org/officeDocument/2006/relationships/notesSlide" Target="/ppt/notesSlides/notesSlide12.xml" Id="R7c1eb1448c9742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a07dd1c91496c" /><Relationship Type="http://schemas.openxmlformats.org/officeDocument/2006/relationships/notesSlide" Target="/ppt/notesSlides/notesSlide13.xml" Id="R438232e5fc704e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00e9618254fc7" /><Relationship Type="http://schemas.openxmlformats.org/officeDocument/2006/relationships/notesSlide" Target="/ppt/notesSlides/notesSlide14.xml" Id="R4466a6a44f6e412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50 ms RMS (mV)</c:v>
          </c:tx>
          <c:spPr>
            <a:ln xmlns:a="http://schemas.openxmlformats.org/drawingml/2006/main" w="28575">
              <a:solidFill>
                <a:srgbClr val="00684A"/>
              </a:solidFill>
            </a:ln>
          </c:spPr>
          <c:marker>
            <c:symbol val="none"/>
          </c:marker>
          <c:cat>
            <c:numRef>
              <c:f>'Chart Data'!$A$2:$A$41</c:f>
              <c:numCache>
                <c:formatCode>General</c:formatCode>
                <c:ptCount val="40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  <c:pt idx="20">
                  <c:v>1.00</c:v>
                </c:pt>
                <c:pt idx="21">
                  <c:v>1.05</c:v>
                </c:pt>
                <c:pt idx="22">
                  <c:v>1.10</c:v>
                </c:pt>
                <c:pt idx="23">
                  <c:v>1.15</c:v>
                </c:pt>
                <c:pt idx="24">
                  <c:v>1.20</c:v>
                </c:pt>
                <c:pt idx="25">
                  <c:v>1.25</c:v>
                </c:pt>
                <c:pt idx="26">
                  <c:v>1.30</c:v>
                </c:pt>
                <c:pt idx="27">
                  <c:v>1.35</c:v>
                </c:pt>
                <c:pt idx="28">
                  <c:v>1.40</c:v>
                </c:pt>
                <c:pt idx="29">
                  <c:v>1.45</c:v>
                </c:pt>
                <c:pt idx="30">
                  <c:v>1.50</c:v>
                </c:pt>
                <c:pt idx="31">
                  <c:v>1.55</c:v>
                </c:pt>
                <c:pt idx="32">
                  <c:v>1.60</c:v>
                </c:pt>
                <c:pt idx="33">
                  <c:v>1.65</c:v>
                </c:pt>
                <c:pt idx="34">
                  <c:v>1.70</c:v>
                </c:pt>
                <c:pt idx="35">
                  <c:v>1.75</c:v>
                </c:pt>
                <c:pt idx="36">
                  <c:v>1.80</c:v>
                </c:pt>
                <c:pt idx="37">
                  <c:v>1.85</c:v>
                </c:pt>
                <c:pt idx="38">
                  <c:v>1.90</c:v>
                </c:pt>
                <c:pt idx="39">
                  <c:v>1.95</c:v>
                </c:pt>
              </c:numCache>
            </c:numRef>
          </c:cat>
          <c:val>
            <c:numRef>
              <c:f>'Chart Data'!$B$2:$B$41</c:f>
              <c:numCache>
                <c:formatCode>0.00</c:formatCode>
                <c:ptCount val="40"/>
                <c:pt idx="0">
                  <c:v>0.17720454671</c:v>
                </c:pt>
                <c:pt idx="1">
                  <c:v>0.157317491393</c:v>
                </c:pt>
                <c:pt idx="2">
                  <c:v>0.131808641765</c:v>
                </c:pt>
                <c:pt idx="3">
                  <c:v>0.121377040427</c:v>
                </c:pt>
                <c:pt idx="4">
                  <c:v>0.125941005401</c:v>
                </c:pt>
                <c:pt idx="5">
                  <c:v>0.148112623376</c:v>
                </c:pt>
                <c:pt idx="6">
                  <c:v>0.169242331606</c:v>
                </c:pt>
                <c:pt idx="7">
                  <c:v>0.203239707943</c:v>
                </c:pt>
                <c:pt idx="8">
                  <c:v>0.233732815348</c:v>
                </c:pt>
                <c:pt idx="9">
                  <c:v>0.257266016527</c:v>
                </c:pt>
                <c:pt idx="10">
                  <c:v>0.349077982595</c:v>
                </c:pt>
                <c:pt idx="11">
                  <c:v>0.388639222521</c:v>
                </c:pt>
                <c:pt idx="12">
                  <c:v>0.395862008252</c:v>
                </c:pt>
                <c:pt idx="13">
                  <c:v>0.300616207101</c:v>
                </c:pt>
                <c:pt idx="14">
                  <c:v>0.343700286488</c:v>
                </c:pt>
                <c:pt idx="15">
                  <c:v>0.26819719148</c:v>
                </c:pt>
                <c:pt idx="16">
                  <c:v>0.2567474237</c:v>
                </c:pt>
                <c:pt idx="17">
                  <c:v>0.213840125451</c:v>
                </c:pt>
                <c:pt idx="18">
                  <c:v>0.148436145401</c:v>
                </c:pt>
                <c:pt idx="19">
                  <c:v>0.140520580603</c:v>
                </c:pt>
                <c:pt idx="20">
                  <c:v>0.0904712586739</c:v>
                </c:pt>
                <c:pt idx="21">
                  <c:v>0.0809608876515</c:v>
                </c:pt>
                <c:pt idx="22">
                  <c:v>0.0792813284366</c:v>
                </c:pt>
                <c:pt idx="23">
                  <c:v>0.0812154971306</c:v>
                </c:pt>
                <c:pt idx="24">
                  <c:v>0.080118779121</c:v>
                </c:pt>
                <c:pt idx="25">
                  <c:v>0.0681968186312</c:v>
                </c:pt>
                <c:pt idx="26">
                  <c:v>0.084121559925</c:v>
                </c:pt>
                <c:pt idx="27">
                  <c:v>0.0803055449309</c:v>
                </c:pt>
                <c:pt idx="28">
                  <c:v>0.0925758612047</c:v>
                </c:pt>
                <c:pt idx="29">
                  <c:v>0.10256192803</c:v>
                </c:pt>
                <c:pt idx="30">
                  <c:v>0.114270961004</c:v>
                </c:pt>
                <c:pt idx="31">
                  <c:v>0.147518420231</c:v>
                </c:pt>
                <c:pt idx="32">
                  <c:v>0.236109060655</c:v>
                </c:pt>
                <c:pt idx="33">
                  <c:v>0.206110632012</c:v>
                </c:pt>
                <c:pt idx="34">
                  <c:v>0.319000505971</c:v>
                </c:pt>
                <c:pt idx="35">
                  <c:v>0.317335753318</c:v>
                </c:pt>
                <c:pt idx="36">
                  <c:v>0.381241467765</c:v>
                </c:pt>
                <c:pt idx="37">
                  <c:v>0.339088047397</c:v>
                </c:pt>
                <c:pt idx="38">
                  <c:v>0.306175720118</c:v>
                </c:pt>
                <c:pt idx="39">
                  <c:v>0.326213300255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Input-referred RMS (mV)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E8F8ED"/>
        </a:solidFill>
      </c:spPr>
    </c:plotArea>
    <c:plotVisOnly val="1"/>
  </c:chart>
  <c:spPr>
    <a:solidFill xmlns:a="http://schemas.openxmlformats.org/drawingml/2006/main">
      <a:srgbClr val="E8F8ED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Random Forest OOF accuracy</c:v>
          </c:tx>
          <c:spPr>
            <a:solidFill xmlns:a="http://schemas.openxmlformats.org/drawingml/2006/main">
              <a:srgbClr val="00684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EMG only</c:v>
                </c:pt>
                <c:pt idx="1">
                  <c:v>IMU only</c:v>
                </c:pt>
                <c:pt idx="2">
                  <c:v>EMG + IMU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0.350877192982</c:v>
                </c:pt>
                <c:pt idx="1">
                  <c:v>0.989473684211</c:v>
                </c:pt>
                <c:pt idx="2">
                  <c:v>0.905263157895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068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664AD-E661-43CC-B9CA-C0D681A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FINAL 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E2E2F-3AD3-4455-A626-01DF758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C611-6D04-4D42-A3E3-9112FE5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motion-based grip activity</a:t>
            </a:r>
          </a:p>
          <a:p xmlns:a="http://schemas.openxmlformats.org/drawingml/2006/main">
            <a: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stability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E135-30EF-4B81-B223-30FC52C1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AECD · 25EC1302E</a:t>
            </a:r>
          </a:p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KL University, Hyderabad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F4551-5B87-4FBD-8CCE-BA9D82F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 Jaswant Goud   2510040007      G Abhishek   2510040015</a:t>
            </a:r>
          </a:p>
          <a:p xmlns:a="http://schemas.openxmlformats.org/drawingml/2006/main">
            <a: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 GopiChand      2510040023      C Meghasyam  2510040072</a:t>
            </a:r>
          </a:p>
        </p:txBody>
      </p:sp>
    </p:spTree>
    <p:extLst>
      <p:ext uri="{BB962C8B-B14F-4D97-AF65-F5344CB8AC3E}">
        <p14:creationId xmlns:p14="http://schemas.microsoft.com/office/powerpoint/2010/main" val="32192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756B2-48BE-44B9-9480-21757CF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C6DB-052F-49B9-9C3B-120DCBD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39EE-D105-4D5B-ABDC-39E4CC5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979F2-EA16-460F-A8AE-4DD7BD2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Muscle activity needs</a:t>
            </a:r>
          </a:p>
          <a:p xmlns:a="http://schemas.openxmlformats.org/drawingml/2006/main">
            <a: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movement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80512-AB2D-48B9-9C7E-2013A2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EMG describes electrical activation. Motion sensing distinguishes a steady grip from a grip with movement.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E0CA6-6C32-4ED9-9E5A-A943AA2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Activity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2B6BE-E969-456F-A203-1B2D2FA7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Activation timing and repetition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CCC1-59A1-4219-8509-0A0A04E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Movement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84606-8793-423C-BB91-708CAB88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Acceleration and angular rate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703C6-33C0-4D2A-A84A-8EA2A8E384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eb770d93a41f1"/>
          <a:stretch xmlns:a="http://schemas.openxmlformats.org/drawingml/2006/main"/>
        </p:blipFill>
        <p:spPr>
          <a:xfrm xmlns:a="http://schemas.openxmlformats.org/drawingml/2006/main">
            <a:off x="6334125" y="1616869"/>
            <a:ext cx="5238750" cy="392906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ACF08-C565-4722-809B-2B3C59D0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Concept illustration, not the built prototype</a:t>
            </a:r>
          </a:p>
        </p:txBody>
      </p:sp>
    </p:spTree>
    <p:extLst>
      <p:ext uri="{BB962C8B-B14F-4D97-AF65-F5344CB8AC3E}">
        <p14:creationId xmlns:p14="http://schemas.microsoft.com/office/powerpoint/2010/main" val="1681666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FE94D-49CE-4E8D-A2C3-02FAEEE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Available hardware and its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82253-68AD-4ADF-9A81-CA63BBBD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ED852-4787-4D27-9B01-88885F1C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57D62-D9DA-4B2D-9036-108BCB96EA06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3476625"/>
                <a:gridCol w="459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 boundary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BioAmp EXG Pill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One analog EMG channel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Gain and filtering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Arduino Uno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ADC and serial transport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Revision and rate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MPU-6050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Acceleration and gyro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Ranges and mounting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Hand gripper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Repeatable grip/release task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No force measurement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3004-598F-492A-8C4D-D5170A1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Confirmed inventory. Live acquisition and calibration remain planned.</a:t>
            </a:r>
          </a:p>
        </p:txBody>
      </p:sp>
    </p:spTree>
    <p:extLst>
      <p:ext uri="{BB962C8B-B14F-4D97-AF65-F5344CB8AC3E}">
        <p14:creationId xmlns:p14="http://schemas.microsoft.com/office/powerpoint/2010/main" val="292281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92C21-9C38-4496-B85B-FA306A2DD2AC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277100" y="300990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1FADC-8839-47CC-9F8C-BBDC82DF7D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324850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9C5F-2B86-4700-91D9-9F26F4796E1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14975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B17A4-7778-4286-9985-365360232BE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05100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D2F81-CED4-4E2C-BE8D-AAEEF33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hardware 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AD5D0-39C8-4545-958D-0551963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DE4D3-3B5B-4BAC-B3AD-FED5532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9FD4-69F8-4B3E-9796-975C2C1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electrodes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EF9C3-CA62-482E-9EEA-5B46997A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BioAmp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EXG Pill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28072-9BD2-4EB2-AD78-C42D8A12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Arduino Uno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ADC + serial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4ABAE-2E08-46E1-8335-F1336384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95500"/>
            <a:ext cx="254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Laptop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FastAPI +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07631-FD47-4293-BD79-302358B5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2907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MPU-6050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Accel + gyro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04C08-DD91-4321-AAF3-BE11E2F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Analog EMG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AEAFB-0C36-48FC-B7C4-7F990FBA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Motion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D9A9-7CD1-49BB-8344-304CA915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The gripper provides the task. It does not measure force.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20BDD-F69B-4990-908B-76DFE37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Functional design only. Verify the board, firmware, sampling and calibration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99305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6D885-6062-4B6A-9C16-0E1C8B56C26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630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3B20F-2F00-45B3-B488-AD53A2A071C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436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F2C9F-8E71-49E5-A644-D049798D02F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242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D79DA-88D2-4F1A-93F5-796C6D0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Software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D6AC0-08AB-4987-8E2F-F457D2C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3EEE-1A7B-4C01-9265-08EEFE9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4F834-9CD6-4B0E-B0E9-0303366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seeded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096DE-EAD2-4FAD-897F-23FB7C54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Model analog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conditioning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A0E35-53B7-4B07-9287-1B7A52B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Extract EMG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IMU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63693-5134-4828-9DE4-73FB85A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Review results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55C11-F47B-47B3-A1FB-0A2E4347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Saved synthetic signal example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72B61-9A09-4519-B5C3-CC5F40547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3262cf374704"/>
          <a:stretch xmlns:a="http://schemas.openxmlformats.org/drawingml/2006/main"/>
        </p:blipFill>
        <p:spPr>
          <a:xfrm xmlns:a="http://schemas.openxmlformats.org/drawingml/2006/main">
            <a:off x="2719754" y="3476625"/>
            <a:ext cx="6752492" cy="2286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BF93D-F1E1-495C-87A7-06087A36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FastAPI backend + React/TypeScript frontend</a:t>
            </a:r>
          </a:p>
        </p:txBody>
      </p:sp>
    </p:spTree>
    <p:extLst>
      <p:ext uri="{BB962C8B-B14F-4D97-AF65-F5344CB8AC3E}">
        <p14:creationId xmlns:p14="http://schemas.microsoft.com/office/powerpoint/2010/main" val="1277932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D754F-B9F5-4639-9241-5F512174B25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630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C8BC8-4D0B-49A7-B22A-D6D3B818F8E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436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FF121-8125-416E-9BA5-B0FE2E0D02E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242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5DD26-9D1A-4C81-BEC4-460E2B6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Analog conditioning and digital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9354-2806-49C3-AAD9-FDF6B0C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E5BC8-F104-4485-9941-2D5B2F9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80976-EE41-44DB-B6F6-8782B3A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High-pass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34DF0-976F-4FD2-8E24-ADF987D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Notch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50 Hz, 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73157-611D-4229-9C9B-07F7BBD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Low-pass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450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A8AF9-B4AC-4C93-AFDB-B09FEA0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ADC model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12-bit, 4 kHz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411E6-CC45-4D63-8654-6DFAED1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Educational filter model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298AE-AE82-4634-BD20-C3D164C23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79838acd54928"/>
          <a:stretch xmlns:a="http://schemas.openxmlformats.org/drawingml/2006/main"/>
        </p:blipFill>
        <p:spPr>
          <a:xfrm xmlns:a="http://schemas.openxmlformats.org/drawingml/2006/main">
            <a:off x="1478492" y="3238500"/>
            <a:ext cx="4453467" cy="2505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FD107-651B-4511-966F-A3FB173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Digital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08B9F-9C68-423F-9963-57CAB55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40957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200 ms windows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100 ms hop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RMS and spectral features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FIR output at 1 kHz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84559-1C4A-4EB1-8D95-781C6B5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 250 Hz raw stream cannot preserve a 450 Hz EMG band.</a:t>
            </a:r>
          </a:p>
        </p:txBody>
      </p:sp>
    </p:spTree>
    <p:extLst>
      <p:ext uri="{BB962C8B-B14F-4D97-AF65-F5344CB8AC3E}">
        <p14:creationId xmlns:p14="http://schemas.microsoft.com/office/powerpoint/2010/main" val="822003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2B22-7D3B-4BC8-8C8E-6D500FF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Interactive simulation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E3A3-81A6-4AF1-A92D-E3224C3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C43F-C454-4BAA-BBF5-3EE2C5F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65581-7538-48A1-BF2B-FD4E49EA8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2ae2fae9443a5"/>
          <a:stretch xmlns:a="http://schemas.openxmlformats.org/drawingml/2006/main"/>
        </p:blipFill>
        <p:spPr>
          <a:xfrm xmlns:a="http://schemas.openxmlformats.org/drawingml/2006/main">
            <a:off x="2159166" y="1466850"/>
            <a:ext cx="7873667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3970-FCC5-4D51-A311-7257489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Adjust scenarios, inspect waveforms and export the full numerical trial.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65254-DE03-4B60-A173-39BD8A9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simulation view. Navigation predates report alignment.</a:t>
            </a:r>
          </a:p>
        </p:txBody>
      </p:sp>
    </p:spTree>
    <p:extLst>
      <p:ext uri="{BB962C8B-B14F-4D97-AF65-F5344CB8AC3E}">
        <p14:creationId xmlns:p14="http://schemas.microsoft.com/office/powerpoint/2010/main" val="1907245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CD4C-F0C2-404D-87A3-E7030E4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Saved signal analysis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8FB4F-53A0-4AFE-BF0A-9A1022D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4E480-ACF5-4A99-9139-875C4F7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8F563-338C-4A5C-9350-DD8E79A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Seed 42 · 2 seconds · 4 kHz · 8,000 samples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D574F5-10BF-4888-BB8F-A0D3325B5CA9}"/>
              </a:ext>
            </a:extLst>
          </p:cNvPr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a9286f28ab4bc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275EC-735B-4C71-ADED-F2E8224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0.226 mV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1B15B-5787-44A9-B824-8F2A79A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Whole-trial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76937-2123-4CE4-A4BC-A6F771C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211.7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9F0BF-F0E6-45C7-8440-0EEF770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Mean 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04668-BE4A-42D1-8D81-435B8B2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 modeled clipping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C1549-0098-42F3-9C44-A28BB822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ADC-derived signal, referred to the model input. No physiological measurement.</a:t>
            </a:r>
          </a:p>
        </p:txBody>
      </p:sp>
    </p:spTree>
    <p:extLst>
      <p:ext uri="{BB962C8B-B14F-4D97-AF65-F5344CB8AC3E}">
        <p14:creationId xmlns:p14="http://schemas.microsoft.com/office/powerpoint/2010/main" val="1840562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F94DA-3B95-4A88-BE8B-6663EB26D3A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76850" y="441007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71AF8-023F-4701-BC76-13DB30266C5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9248775" y="2571750"/>
            <a:ext cx="2447925" cy="13430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A897C-964A-4ABB-B311-DAFF223A11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62850" y="21431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1AAD2-29B9-4812-9AB6-64729EE7BF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43300" y="21431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61A3-4190-4C21-9F41-F686BA08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Machine learning evaluation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431FE-CDD8-4818-A6D0-3B69B4D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8B11-414E-4998-9A14-1502BC0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6320-D0D1-454A-B936-DC3D2787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 synthetic trials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gesture classes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B86BB-1AF4-498E-A57D-820C49A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200 ms windows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50%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59108-48EB-4CE5-A438-50F1F77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570 windows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+ IMU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74FF6-9C9B-4FEF-A3BD-8FDE37B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Three folds hold out complete trials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C37E3-E8BB-4C47-8FE4-9FAE23A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Training trials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Fit feature scaling +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229BF-B8A6-4D23-ABB5-A41CFCE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Held-out trials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Predict once per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A1988-4535-4155-A0B2-B16A011E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Logistic Regression, SVM, Decision Tree, Random Forest, Gradient Boosting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3EDED-AE92-4C29-8227-B7C3478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Windows from the same trial never appear in both training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117743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39B59-B998-465D-A835-711A337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Synthetic machine learning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CE8C-05B7-46DB-BB2D-1BA6287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7BF9-C40A-4FDD-890F-05B7741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961DFC3-C557-488C-BF22-54B4D8A0ACFB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e500e8fe8444e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7868D-FD7B-44B3-AD94-E68F6F7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Random Forest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0D962-1323-4410-B656-B70A1AD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30 trials</a:t>
            </a:r>
          </a:p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570 windows</a:t>
            </a:r>
          </a:p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 gesture classes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0A872-0BEC-49BC-9066-3D212F3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3-fold trial-grouped evaluation keeps overlapping windows from the same trial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75BC3-09AE-438E-B953-0C0B084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IMU outperforms fusion here. Programmed movement patterns limit generalization.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2620-2E07-4C2D-9A8F-93FD1B9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results only. No independent model-selection holdout or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445555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587D5-B2A6-46A8-A31D-0CB6472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Engineering and software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B199-46BF-4615-926D-5A701FE5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C7B22-426F-4B24-8AB9-F632202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3E4E3-DC88-414F-8C56-25329C1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SPICE: partial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4088F-F4C1-43C0-91DC-F455D39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Ideal R/C response agrees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within 1.45 x 10^-7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OPA2376 gain check passed.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INA826 gain check failed.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2931-CAC7-493D-990B-39EBB51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Recorded software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EE01A-2070-452F-AD7C-34B078A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62 backend tests passed</a:t>
            </a:r>
          </a:p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Build and ESLint passed</a:t>
            </a:r>
          </a:p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7 browser cases across two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4DDA2-170C-4CB7-864E-003F3E6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Component tolerance study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6EB6D-14B3-4FC5-8FAA-4BE0DECBE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25f1af7f74568"/>
          <a:stretch xmlns:a="http://schemas.openxmlformats.org/drawingml/2006/main"/>
        </p:blipFill>
        <p:spPr>
          <a:xfrm xmlns:a="http://schemas.openxmlformats.org/drawingml/2006/main">
            <a:off x="5810250" y="2697956"/>
            <a:ext cx="5772150" cy="2405063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51689-7847-40FF-8217-43C1676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analytical study. No physical hardware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6184553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DABDD-9289-4913-BB4D-7D2B1DD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35-second grip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6F52-6D4C-40DF-A8D9-F598139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FB67-53F0-4B22-B2C2-F1E276A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823B3-18DB-4FD4-8DA3-19F5947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Three 5-second squeezes separated by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F212A-03C2-4894-BADC-222CFF5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FB39C-A3D3-4F65-ADD1-346EC42C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0-5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C9B40-95D6-49C9-B23F-63238C9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86CA7-91A8-483B-B5DD-5719E6B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5-10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58659-D811-4E2A-81E0-248ED98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BC79E-2F82-4795-BEA2-DBFF9728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10-15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87AF5-7D97-47C8-B895-E7C6262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0CBC6-511A-4890-AD21-351B693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15-20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B96B3-2858-4254-B535-FC9917A1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F8232-9593-4028-B555-FA9AA1F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20-25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D6F7C-1B2D-4351-A653-BAEC171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E801D-75B3-42D5-93C5-0186583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25-30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30F3F-D933-4477-BFE0-9011BE6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908CD-2426-4B00-9260-1E6C9F0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30-35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79C99-5582-4ABC-95E4-32A5271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B8C34-7B9B-445F-B3FF-1738066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Baseline and relaxation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30E9F-01D8-4C99-AC7B-0171518A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Squeeze phases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AD076-4DCB-4EA4-89F9-FEDF8E3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482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Activation timing, envelope consistency</a:t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and movement steadiness</a:t>
            </a:r>
          </a:p>
        </p:txBody>
      </p:sp>
    </p:spTree>
    <p:extLst>
      <p:ext uri="{BB962C8B-B14F-4D97-AF65-F5344CB8AC3E}">
        <p14:creationId xmlns:p14="http://schemas.microsoft.com/office/powerpoint/2010/main" val="1373637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A6E2B-E1E8-4041-BC98-A2054D44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Current completion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77F2B-A19B-400E-B619-F15A125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56E3F-613A-4658-BE98-639FDA8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DF5B2-987A-46F7-8E5B-0C9AB00CBE91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implementation phase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Synthetic EMG and motion generation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Verify firmware, ADC and actual sample timing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Analog/DSP analysis and JSON export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Validated serial ingestion with disconnect handling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Grouped ML training and prediction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Baseline calibration and 35-second acquisition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Engineering checks and local dashboard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Raw recording, replay and real-data evaluation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198DA-65EB-40D4-B7A8-EBEC93E0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Unavailable measurements: grip force, SpO₂ and blood flow. No clinical claims.</a:t>
            </a:r>
          </a:p>
        </p:txBody>
      </p:sp>
    </p:spTree>
    <p:extLst>
      <p:ext uri="{BB962C8B-B14F-4D97-AF65-F5344CB8AC3E}">
        <p14:creationId xmlns:p14="http://schemas.microsoft.com/office/powerpoint/2010/main" val="1052901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F1E1-3D0F-4AA1-96E5-A1125B0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7D65-C829-4219-AAF7-7598868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249C-2CC8-4FFF-84DF-07F443D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A8C0-B03F-4965-8619-F07EC17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 reproducible laboratory for</a:t>
            </a:r>
          </a:p>
          <a:p xmlns:a="http://schemas.openxmlformats.org/drawingml/2006/main">
            <a: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movement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5CF1-7F32-440D-9BF9-3EA51FB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The project connects analog signal conditioning, digital analysis and grouped ML evaluation in one local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23693-3D81-4793-83FC-E0C346B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0BE17-11BF-4319-8BDE-2293836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Verify the Uno/BioAmp/MPU-6050 stream, then complete one calibrated, recorded grip session.</a:t>
            </a:r>
          </a:p>
        </p:txBody>
      </p:sp>
    </p:spTree>
    <p:extLst>
      <p:ext uri="{BB962C8B-B14F-4D97-AF65-F5344CB8AC3E}">
        <p14:creationId xmlns:p14="http://schemas.microsoft.com/office/powerpoint/2010/main" val="925878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2026-10-23T17:42:35.9130000Z</dcterms:created>
  <dcterms:modified xsi:type="dcterms:W3CDTF">2026-10-23T17:42:35.9130000Z</dcterms:modified>
</coreProperties>
</file>
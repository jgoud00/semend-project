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1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2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ab9c9dfd2d4b1a" /><Relationship Type="http://schemas.openxmlformats.org/officeDocument/2006/relationships/extended-properties" Target="/docProps/app.xml" Id="Raecf0c44e8d04e79" /><Relationship Type="http://schemas.openxmlformats.org/officeDocument/2006/relationships/officeDocument" Target="/ppt/presentation.xml" Id="R374dfcb44e63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a7bb99b3c4499c"/>
  </p:sldMasterIdLst>
  <p:notesMasterIdLst>
    <p:notesMasterId xmlns:r="http://schemas.openxmlformats.org/officeDocument/2006/relationships" r:id="Rf88a8f4ba7814955"/>
  </p:notesMasterIdLst>
  <p:sldIdLst>
    <p:sldId xmlns:r="http://schemas.openxmlformats.org/officeDocument/2006/relationships" id="256" r:id="Rb6599de01e8c43b4"/>
    <p:sldId xmlns:r="http://schemas.openxmlformats.org/officeDocument/2006/relationships" id="257" r:id="R61212369033a4534"/>
    <p:sldId xmlns:r="http://schemas.openxmlformats.org/officeDocument/2006/relationships" id="258" r:id="R1e0e7a98595046a1"/>
    <p:sldId xmlns:r="http://schemas.openxmlformats.org/officeDocument/2006/relationships" id="259" r:id="Rb454e53cd0bd4265"/>
    <p:sldId xmlns:r="http://schemas.openxmlformats.org/officeDocument/2006/relationships" id="260" r:id="Rc3852b5dff4240de"/>
    <p:sldId xmlns:r="http://schemas.openxmlformats.org/officeDocument/2006/relationships" id="261" r:id="R3d33f6a1e0104ff9"/>
    <p:sldId xmlns:r="http://schemas.openxmlformats.org/officeDocument/2006/relationships" id="262" r:id="Ra6a0c073012a4be7"/>
    <p:sldId xmlns:r="http://schemas.openxmlformats.org/officeDocument/2006/relationships" id="263" r:id="Re2ec468e5fbe450d"/>
    <p:sldId xmlns:r="http://schemas.openxmlformats.org/officeDocument/2006/relationships" id="264" r:id="R40154be0725f4370"/>
    <p:sldId xmlns:r="http://schemas.openxmlformats.org/officeDocument/2006/relationships" id="265" r:id="R9539331eba074689"/>
    <p:sldId xmlns:r="http://schemas.openxmlformats.org/officeDocument/2006/relationships" id="266" r:id="Rfccd69d35ee54d39"/>
    <p:sldId xmlns:r="http://schemas.openxmlformats.org/officeDocument/2006/relationships" id="267" r:id="Rd80b083ed52542c5"/>
    <p:sldId xmlns:r="http://schemas.openxmlformats.org/officeDocument/2006/relationships" id="268" r:id="R68b26eb73d6742ee"/>
    <p:sldId xmlns:r="http://schemas.openxmlformats.org/officeDocument/2006/relationships" id="269" r:id="Re1116d4da1204f1d"/>
    <p:sldId xmlns:r="http://schemas.openxmlformats.org/officeDocument/2006/relationships" id="270" r:id="R41fda008984a458c"/>
    <p:sldId xmlns:r="http://schemas.openxmlformats.org/officeDocument/2006/relationships" id="271" r:id="R66cd1d72507249a0"/>
    <p:sldId xmlns:r="http://schemas.openxmlformats.org/officeDocument/2006/relationships" id="272" r:id="R6ca48ad63cc34220"/>
    <p:sldId xmlns:r="http://schemas.openxmlformats.org/officeDocument/2006/relationships" id="273" r:id="R0cf2f0249c8f4541"/>
    <p:sldId xmlns:r="http://schemas.openxmlformats.org/officeDocument/2006/relationships" id="274" r:id="R66fba4c465f549b8"/>
    <p:sldId xmlns:r="http://schemas.openxmlformats.org/officeDocument/2006/relationships" id="275" r:id="Rc00c24099b434fac"/>
    <p:sldId xmlns:r="http://schemas.openxmlformats.org/officeDocument/2006/relationships" id="276" r:id="Rad1002ef76a049b4"/>
    <p:sldId xmlns:r="http://schemas.openxmlformats.org/officeDocument/2006/relationships" id="277" r:id="R2d90f3b2f27647a1"/>
    <p:sldId xmlns:r="http://schemas.openxmlformats.org/officeDocument/2006/relationships" id="278" r:id="Recd37c4d9cca4732"/>
    <p:sldId xmlns:r="http://schemas.openxmlformats.org/officeDocument/2006/relationships" id="279" r:id="R8d7a6c736a9941e5"/>
    <p:sldId xmlns:r="http://schemas.openxmlformats.org/officeDocument/2006/relationships" id="280" r:id="Rf237aad094cb427d"/>
    <p:sldId xmlns:r="http://schemas.openxmlformats.org/officeDocument/2006/relationships" id="281" r:id="R5d1bbb3315704445"/>
    <p:sldId xmlns:r="http://schemas.openxmlformats.org/officeDocument/2006/relationships" id="282" r:id="Rc24de7fbee24427e"/>
    <p:sldId xmlns:r="http://schemas.openxmlformats.org/officeDocument/2006/relationships" id="283" r:id="R8bd55bdd8a8f4952"/>
    <p:sldId xmlns:r="http://schemas.openxmlformats.org/officeDocument/2006/relationships" id="284" r:id="R0b25ba226c4d4fe1"/>
    <p:sldId xmlns:r="http://schemas.openxmlformats.org/officeDocument/2006/relationships" id="285" r:id="R1dcd1b24020f4d9f"/>
    <p:sldId xmlns:r="http://schemas.openxmlformats.org/officeDocument/2006/relationships" id="286" r:id="R79ee2b3de61e4e94"/>
    <p:sldId xmlns:r="http://schemas.openxmlformats.org/officeDocument/2006/relationships" id="287" r:id="R877c8b8dcf534f68"/>
    <p:sldId xmlns:r="http://schemas.openxmlformats.org/officeDocument/2006/relationships" id="288" r:id="R95acc63d465a42b5"/>
    <p:sldId xmlns:r="http://schemas.openxmlformats.org/officeDocument/2006/relationships" id="289" r:id="Rbe110c135ce94f07"/>
    <p:sldId xmlns:r="http://schemas.openxmlformats.org/officeDocument/2006/relationships" id="290" r:id="R3736b3248be547bc"/>
    <p:sldId xmlns:r="http://schemas.openxmlformats.org/officeDocument/2006/relationships" id="291" r:id="Raf28f195a8fc4344"/>
    <p:sldId xmlns:r="http://schemas.openxmlformats.org/officeDocument/2006/relationships" id="292" r:id="Rdcbe8318391f4fb2"/>
    <p:sldId xmlns:r="http://schemas.openxmlformats.org/officeDocument/2006/relationships" id="293" r:id="Rdaa505e0d6cd4d88"/>
    <p:sldId xmlns:r="http://schemas.openxmlformats.org/officeDocument/2006/relationships" id="294" r:id="R085ffc295417467b"/>
    <p:sldId xmlns:r="http://schemas.openxmlformats.org/officeDocument/2006/relationships" id="295" r:id="Rfbdf7b96be964a81"/>
    <p:sldId xmlns:r="http://schemas.openxmlformats.org/officeDocument/2006/relationships" id="296" r:id="R4e8467aa717542ea"/>
    <p:sldId xmlns:r="http://schemas.openxmlformats.org/officeDocument/2006/relationships" id="297" r:id="Rc25a41be61414c90"/>
    <p:sldId xmlns:r="http://schemas.openxmlformats.org/officeDocument/2006/relationships" id="298" r:id="Ra88ba0b051364858"/>
    <p:sldId xmlns:r="http://schemas.openxmlformats.org/officeDocument/2006/relationships" id="299" r:id="R9618f8b423bb439f"/>
    <p:sldId xmlns:r="http://schemas.openxmlformats.org/officeDocument/2006/relationships" id="300" r:id="R5b363b1d7ae742fe"/>
    <p:sldId xmlns:r="http://schemas.openxmlformats.org/officeDocument/2006/relationships" id="301" r:id="Rd680928717f044e8"/>
    <p:sldId xmlns:r="http://schemas.openxmlformats.org/officeDocument/2006/relationships" id="302" r:id="R13ac6d8359074eb1"/>
    <p:sldId xmlns:r="http://schemas.openxmlformats.org/officeDocument/2006/relationships" id="303" r:id="R5690e72831c44246"/>
    <p:sldId xmlns:r="http://schemas.openxmlformats.org/officeDocument/2006/relationships" id="304" r:id="R15636767a7664a87"/>
    <p:sldId xmlns:r="http://schemas.openxmlformats.org/officeDocument/2006/relationships" id="305" r:id="R379082e02987459c"/>
    <p:sldId xmlns:r="http://schemas.openxmlformats.org/officeDocument/2006/relationships" id="306" r:id="Re6e1d82804b24f2d"/>
    <p:sldId xmlns:r="http://schemas.openxmlformats.org/officeDocument/2006/relationships" id="307" r:id="R1dcfcc9a291b4a3a"/>
    <p:sldId xmlns:r="http://schemas.openxmlformats.org/officeDocument/2006/relationships" id="308" r:id="R42e03bfd76a64cf7"/>
    <p:sldId xmlns:r="http://schemas.openxmlformats.org/officeDocument/2006/relationships" id="309" r:id="Rad151c43ae3f4f2e"/>
    <p:sldId xmlns:r="http://schemas.openxmlformats.org/officeDocument/2006/relationships" id="310" r:id="R96703f63cc244e10"/>
    <p:sldId xmlns:r="http://schemas.openxmlformats.org/officeDocument/2006/relationships" id="311" r:id="R77e1e08e5e6d4b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7500030864415f" /><Relationship Type="http://schemas.openxmlformats.org/officeDocument/2006/relationships/slideMaster" Target="/ppt/slideMasters/slideMaster1.xml" Id="R27a7bb99b3c4499c" /><Relationship Type="http://schemas.openxmlformats.org/officeDocument/2006/relationships/notesMaster" Target="/ppt/notesMasters/notesMaster1.xml" Id="Rf88a8f4ba7814955" /><Relationship Type="http://schemas.openxmlformats.org/officeDocument/2006/relationships/presProps" Target="/ppt/presProps.xml" Id="R72757109f39b4f11" /><Relationship Type="http://schemas.openxmlformats.org/officeDocument/2006/relationships/tableStyles" Target="/ppt/tableStyles.xml" Id="Ra5322c00ba7f40b7" /><Relationship Type="http://schemas.openxmlformats.org/officeDocument/2006/relationships/slide" Target="/ppt/slides/slide1.xml" Id="Rb6599de01e8c43b4" /><Relationship Type="http://schemas.openxmlformats.org/officeDocument/2006/relationships/slide" Target="/ppt/slides/slide2.xml" Id="R61212369033a4534" /><Relationship Type="http://schemas.openxmlformats.org/officeDocument/2006/relationships/slide" Target="/ppt/slides/slide3.xml" Id="R1e0e7a98595046a1" /><Relationship Type="http://schemas.openxmlformats.org/officeDocument/2006/relationships/slide" Target="/ppt/slides/slide4.xml" Id="Rb454e53cd0bd4265" /><Relationship Type="http://schemas.openxmlformats.org/officeDocument/2006/relationships/slide" Target="/ppt/slides/slide5.xml" Id="Rc3852b5dff4240de" /><Relationship Type="http://schemas.openxmlformats.org/officeDocument/2006/relationships/slide" Target="/ppt/slides/slide6.xml" Id="R3d33f6a1e0104ff9" /><Relationship Type="http://schemas.openxmlformats.org/officeDocument/2006/relationships/slide" Target="/ppt/slides/slide7.xml" Id="Ra6a0c073012a4be7" /><Relationship Type="http://schemas.openxmlformats.org/officeDocument/2006/relationships/slide" Target="/ppt/slides/slide8.xml" Id="Re2ec468e5fbe450d" /><Relationship Type="http://schemas.openxmlformats.org/officeDocument/2006/relationships/slide" Target="/ppt/slides/slide9.xml" Id="R40154be0725f4370" /><Relationship Type="http://schemas.openxmlformats.org/officeDocument/2006/relationships/slide" Target="/ppt/slides/slide10.xml" Id="R9539331eba074689" /><Relationship Type="http://schemas.openxmlformats.org/officeDocument/2006/relationships/slide" Target="/ppt/slides/slide11.xml" Id="Rfccd69d35ee54d39" /><Relationship Type="http://schemas.openxmlformats.org/officeDocument/2006/relationships/slide" Target="/ppt/slides/slide12.xml" Id="Rd80b083ed52542c5" /><Relationship Type="http://schemas.openxmlformats.org/officeDocument/2006/relationships/slide" Target="/ppt/slides/slide13.xml" Id="R68b26eb73d6742ee" /><Relationship Type="http://schemas.openxmlformats.org/officeDocument/2006/relationships/slide" Target="/ppt/slides/slide14.xml" Id="Re1116d4da1204f1d" /><Relationship Type="http://schemas.openxmlformats.org/officeDocument/2006/relationships/slide" Target="/ppt/slides/slide15.xml" Id="R41fda008984a458c" /><Relationship Type="http://schemas.openxmlformats.org/officeDocument/2006/relationships/slide" Target="/ppt/slides/slide16.xml" Id="R66cd1d72507249a0" /><Relationship Type="http://schemas.openxmlformats.org/officeDocument/2006/relationships/slide" Target="/ppt/slides/slide17.xml" Id="R6ca48ad63cc34220" /><Relationship Type="http://schemas.openxmlformats.org/officeDocument/2006/relationships/slide" Target="/ppt/slides/slide18.xml" Id="R0cf2f0249c8f4541" /><Relationship Type="http://schemas.openxmlformats.org/officeDocument/2006/relationships/slide" Target="/ppt/slides/slide19.xml" Id="R66fba4c465f549b8" /><Relationship Type="http://schemas.openxmlformats.org/officeDocument/2006/relationships/slide" Target="/ppt/slides/slide20.xml" Id="Rc00c24099b434fac" /><Relationship Type="http://schemas.openxmlformats.org/officeDocument/2006/relationships/slide" Target="/ppt/slides/slide21.xml" Id="Rad1002ef76a049b4" /><Relationship Type="http://schemas.openxmlformats.org/officeDocument/2006/relationships/slide" Target="/ppt/slides/slide22.xml" Id="R2d90f3b2f27647a1" /><Relationship Type="http://schemas.openxmlformats.org/officeDocument/2006/relationships/slide" Target="/ppt/slides/slide23.xml" Id="Recd37c4d9cca4732" /><Relationship Type="http://schemas.openxmlformats.org/officeDocument/2006/relationships/slide" Target="/ppt/slides/slide24.xml" Id="R8d7a6c736a9941e5" /><Relationship Type="http://schemas.openxmlformats.org/officeDocument/2006/relationships/slide" Target="/ppt/slides/slide25.xml" Id="Rf237aad094cb427d" /><Relationship Type="http://schemas.openxmlformats.org/officeDocument/2006/relationships/slide" Target="/ppt/slides/slide26.xml" Id="R5d1bbb3315704445" /><Relationship Type="http://schemas.openxmlformats.org/officeDocument/2006/relationships/slide" Target="/ppt/slides/slide27.xml" Id="Rc24de7fbee24427e" /><Relationship Type="http://schemas.openxmlformats.org/officeDocument/2006/relationships/slide" Target="/ppt/slides/slide28.xml" Id="R8bd55bdd8a8f4952" /><Relationship Type="http://schemas.openxmlformats.org/officeDocument/2006/relationships/slide" Target="/ppt/slides/slide29.xml" Id="R0b25ba226c4d4fe1" /><Relationship Type="http://schemas.openxmlformats.org/officeDocument/2006/relationships/slide" Target="/ppt/slides/slide30.xml" Id="R1dcd1b24020f4d9f" /><Relationship Type="http://schemas.openxmlformats.org/officeDocument/2006/relationships/slide" Target="/ppt/slides/slide31.xml" Id="R79ee2b3de61e4e94" /><Relationship Type="http://schemas.openxmlformats.org/officeDocument/2006/relationships/slide" Target="/ppt/slides/slide32.xml" Id="R877c8b8dcf534f68" /><Relationship Type="http://schemas.openxmlformats.org/officeDocument/2006/relationships/slide" Target="/ppt/slides/slide33.xml" Id="R95acc63d465a42b5" /><Relationship Type="http://schemas.openxmlformats.org/officeDocument/2006/relationships/slide" Target="/ppt/slides/slide34.xml" Id="Rbe110c135ce94f07" /><Relationship Type="http://schemas.openxmlformats.org/officeDocument/2006/relationships/slide" Target="/ppt/slides/slide35.xml" Id="R3736b3248be547bc" /><Relationship Type="http://schemas.openxmlformats.org/officeDocument/2006/relationships/slide" Target="/ppt/slides/slide36.xml" Id="Raf28f195a8fc4344" /><Relationship Type="http://schemas.openxmlformats.org/officeDocument/2006/relationships/slide" Target="/ppt/slides/slide37.xml" Id="Rdcbe8318391f4fb2" /><Relationship Type="http://schemas.openxmlformats.org/officeDocument/2006/relationships/slide" Target="/ppt/slides/slide38.xml" Id="Rdaa505e0d6cd4d88" /><Relationship Type="http://schemas.openxmlformats.org/officeDocument/2006/relationships/slide" Target="/ppt/slides/slide39.xml" Id="R085ffc295417467b" /><Relationship Type="http://schemas.openxmlformats.org/officeDocument/2006/relationships/slide" Target="/ppt/slides/slide40.xml" Id="Rfbdf7b96be964a81" /><Relationship Type="http://schemas.openxmlformats.org/officeDocument/2006/relationships/slide" Target="/ppt/slides/slide41.xml" Id="R4e8467aa717542ea" /><Relationship Type="http://schemas.openxmlformats.org/officeDocument/2006/relationships/slide" Target="/ppt/slides/slide42.xml" Id="Rc25a41be61414c90" /><Relationship Type="http://schemas.openxmlformats.org/officeDocument/2006/relationships/slide" Target="/ppt/slides/slide43.xml" Id="Ra88ba0b051364858" /><Relationship Type="http://schemas.openxmlformats.org/officeDocument/2006/relationships/slide" Target="/ppt/slides/slide44.xml" Id="R9618f8b423bb439f" /><Relationship Type="http://schemas.openxmlformats.org/officeDocument/2006/relationships/slide" Target="/ppt/slides/slide45.xml" Id="R5b363b1d7ae742fe" /><Relationship Type="http://schemas.openxmlformats.org/officeDocument/2006/relationships/slide" Target="/ppt/slides/slide46.xml" Id="Rd680928717f044e8" /><Relationship Type="http://schemas.openxmlformats.org/officeDocument/2006/relationships/slide" Target="/ppt/slides/slide47.xml" Id="R13ac6d8359074eb1" /><Relationship Type="http://schemas.openxmlformats.org/officeDocument/2006/relationships/slide" Target="/ppt/slides/slide48.xml" Id="R5690e72831c44246" /><Relationship Type="http://schemas.openxmlformats.org/officeDocument/2006/relationships/slide" Target="/ppt/slides/slide49.xml" Id="R15636767a7664a87" /><Relationship Type="http://schemas.openxmlformats.org/officeDocument/2006/relationships/slide" Target="/ppt/slides/slide50.xml" Id="R379082e02987459c" /><Relationship Type="http://schemas.openxmlformats.org/officeDocument/2006/relationships/slide" Target="/ppt/slides/slide51.xml" Id="Re6e1d82804b24f2d" /><Relationship Type="http://schemas.openxmlformats.org/officeDocument/2006/relationships/slide" Target="/ppt/slides/slide52.xml" Id="R1dcfcc9a291b4a3a" /><Relationship Type="http://schemas.openxmlformats.org/officeDocument/2006/relationships/slide" Target="/ppt/slides/slide53.xml" Id="R42e03bfd76a64cf7" /><Relationship Type="http://schemas.openxmlformats.org/officeDocument/2006/relationships/slide" Target="/ppt/slides/slide54.xml" Id="Rad151c43ae3f4f2e" /><Relationship Type="http://schemas.openxmlformats.org/officeDocument/2006/relationships/slide" Target="/ppt/slides/slide55.xml" Id="R96703f63cc244e10" /><Relationship Type="http://schemas.openxmlformats.org/officeDocument/2006/relationships/slide" Target="/ppt/slides/slide56.xml" Id="R77e1e08e5e6d4b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708493ae55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5b8d75797c4630" /><Relationship Type="http://schemas.openxmlformats.org/officeDocument/2006/relationships/notesMaster" Target="/ppt/notesMasters/notesMaster1.xml" Id="R6e862c722f0a46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d45d9df4fe409b" /><Relationship Type="http://schemas.openxmlformats.org/officeDocument/2006/relationships/notesMaster" Target="/ppt/notesMasters/notesMaster1.xml" Id="Rbb0a8140e7bd4e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bfbecae222427f" /><Relationship Type="http://schemas.openxmlformats.org/officeDocument/2006/relationships/notesMaster" Target="/ppt/notesMasters/notesMaster1.xml" Id="R3f222a7d0dd94d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18d34cf2db4704" /><Relationship Type="http://schemas.openxmlformats.org/officeDocument/2006/relationships/notesMaster" Target="/ppt/notesMasters/notesMaster1.xml" Id="R2bf9510fd05447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c35496f5134a3a" /><Relationship Type="http://schemas.openxmlformats.org/officeDocument/2006/relationships/notesMaster" Target="/ppt/notesMasters/notesMaster1.xml" Id="Rafae80d4f81a45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58e0762f154a18" /><Relationship Type="http://schemas.openxmlformats.org/officeDocument/2006/relationships/notesMaster" Target="/ppt/notesMasters/notesMaster1.xml" Id="R6019cd0172b245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f111ae7ccf48f3" /><Relationship Type="http://schemas.openxmlformats.org/officeDocument/2006/relationships/notesMaster" Target="/ppt/notesMasters/notesMaster1.xml" Id="R0d4074d8329448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4ff665a6d44a0d" /><Relationship Type="http://schemas.openxmlformats.org/officeDocument/2006/relationships/notesMaster" Target="/ppt/notesMasters/notesMaster1.xml" Id="Rf6a9c27dbc6d4a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505ab9086940db" /><Relationship Type="http://schemas.openxmlformats.org/officeDocument/2006/relationships/notesMaster" Target="/ppt/notesMasters/notesMaster1.xml" Id="R5201012650a64e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0575c918d7447b" /><Relationship Type="http://schemas.openxmlformats.org/officeDocument/2006/relationships/notesMaster" Target="/ppt/notesMasters/notesMaster1.xml" Id="R80d20696a9b040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05c9880cf341cc" /><Relationship Type="http://schemas.openxmlformats.org/officeDocument/2006/relationships/notesMaster" Target="/ppt/notesMasters/notesMaster1.xml" Id="Rac2d3d5047354f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9b3029f3c747e8" /><Relationship Type="http://schemas.openxmlformats.org/officeDocument/2006/relationships/notesMaster" Target="/ppt/notesMasters/notesMaster1.xml" Id="Rb968f61ea96747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0bedd678dd4ed6" /><Relationship Type="http://schemas.openxmlformats.org/officeDocument/2006/relationships/notesMaster" Target="/ppt/notesMasters/notesMaster1.xml" Id="R067b6879c81b46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05a55fc5fe4a5a" /><Relationship Type="http://schemas.openxmlformats.org/officeDocument/2006/relationships/notesMaster" Target="/ppt/notesMasters/notesMaster1.xml" Id="Rdaa6d2c5dd5144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fef8b547df41fa" /><Relationship Type="http://schemas.openxmlformats.org/officeDocument/2006/relationships/notesMaster" Target="/ppt/notesMasters/notesMaster1.xml" Id="R93c231a42f5c45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38ae9bb3f649f1" /><Relationship Type="http://schemas.openxmlformats.org/officeDocument/2006/relationships/notesMaster" Target="/ppt/notesMasters/notesMaster1.xml" Id="R0796dfb8a78241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acd3980581423e" /><Relationship Type="http://schemas.openxmlformats.org/officeDocument/2006/relationships/notesMaster" Target="/ppt/notesMasters/notesMaster1.xml" Id="R1bee15ef6d4540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cffc0c92324f7f" /><Relationship Type="http://schemas.openxmlformats.org/officeDocument/2006/relationships/notesMaster" Target="/ppt/notesMasters/notesMaster1.xml" Id="Rdf463779d67047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481da6ec3b4f22" /><Relationship Type="http://schemas.openxmlformats.org/officeDocument/2006/relationships/notesMaster" Target="/ppt/notesMasters/notesMaster1.xml" Id="R89d6242b75e04f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11356eb1f440bf" /><Relationship Type="http://schemas.openxmlformats.org/officeDocument/2006/relationships/notesMaster" Target="/ppt/notesMasters/notesMaster1.xml" Id="Re223acca792644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46a5d8311e49b4" /><Relationship Type="http://schemas.openxmlformats.org/officeDocument/2006/relationships/notesMaster" Target="/ppt/notesMasters/notesMaster1.xml" Id="R6e67d433b88f478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6d9abef06245f8" /><Relationship Type="http://schemas.openxmlformats.org/officeDocument/2006/relationships/notesMaster" Target="/ppt/notesMasters/notesMaster1.xml" Id="R91286aa69bdb49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5b486438854cd9" /><Relationship Type="http://schemas.openxmlformats.org/officeDocument/2006/relationships/notesMaster" Target="/ppt/notesMasters/notesMaster1.xml" Id="Ra08351976a8743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f3f3a4ce2846ba" /><Relationship Type="http://schemas.openxmlformats.org/officeDocument/2006/relationships/notesMaster" Target="/ppt/notesMasters/notesMaster1.xml" Id="R6c2eaab7754045d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7bbfb1cf93d4356" /><Relationship Type="http://schemas.openxmlformats.org/officeDocument/2006/relationships/notesMaster" Target="/ppt/notesMasters/notesMaster1.xml" Id="Re81b55b2d6914d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a56ab23f234127" /><Relationship Type="http://schemas.openxmlformats.org/officeDocument/2006/relationships/notesMaster" Target="/ppt/notesMasters/notesMaster1.xml" Id="Rcc60ab29faae4cb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677f65254c5416c" /><Relationship Type="http://schemas.openxmlformats.org/officeDocument/2006/relationships/notesMaster" Target="/ppt/notesMasters/notesMaster1.xml" Id="Rb8af677632374b5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1edd0b8612b4b8f" /><Relationship Type="http://schemas.openxmlformats.org/officeDocument/2006/relationships/notesMaster" Target="/ppt/notesMasters/notesMaster1.xml" Id="R9269fbaaeb0742e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37c75b38ef8412b" /><Relationship Type="http://schemas.openxmlformats.org/officeDocument/2006/relationships/notesMaster" Target="/ppt/notesMasters/notesMaster1.xml" Id="R37e628108c64432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ebcdd31f4c741ac" /><Relationship Type="http://schemas.openxmlformats.org/officeDocument/2006/relationships/notesMaster" Target="/ppt/notesMasters/notesMaster1.xml" Id="Rc6f1ab6c81264ce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b7c56f054644d19" /><Relationship Type="http://schemas.openxmlformats.org/officeDocument/2006/relationships/notesMaster" Target="/ppt/notesMasters/notesMaster1.xml" Id="R4bd00278b93c4e1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99b219253a4101" /><Relationship Type="http://schemas.openxmlformats.org/officeDocument/2006/relationships/notesMaster" Target="/ppt/notesMasters/notesMaster1.xml" Id="R8cc0941e553d454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94f0e9ffaa844d9" /><Relationship Type="http://schemas.openxmlformats.org/officeDocument/2006/relationships/notesMaster" Target="/ppt/notesMasters/notesMaster1.xml" Id="Rf5b35aa3358246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80e0f2e23a64bc3" /><Relationship Type="http://schemas.openxmlformats.org/officeDocument/2006/relationships/notesMaster" Target="/ppt/notesMasters/notesMaster1.xml" Id="R60548dde78f2427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c7e2c4ab35642f0" /><Relationship Type="http://schemas.openxmlformats.org/officeDocument/2006/relationships/notesMaster" Target="/ppt/notesMasters/notesMaster1.xml" Id="R00e74d7710f3480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55301ea08494559" /><Relationship Type="http://schemas.openxmlformats.org/officeDocument/2006/relationships/notesMaster" Target="/ppt/notesMasters/notesMaster1.xml" Id="R2dd8d50f98034f7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b0f06b50fb74736" /><Relationship Type="http://schemas.openxmlformats.org/officeDocument/2006/relationships/notesMaster" Target="/ppt/notesMasters/notesMaster1.xml" Id="R98dc8da443a347b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f8416c24f74dd4" /><Relationship Type="http://schemas.openxmlformats.org/officeDocument/2006/relationships/notesMaster" Target="/ppt/notesMasters/notesMaster1.xml" Id="R7cb432ac21524d7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e35c401a7fe4d14" /><Relationship Type="http://schemas.openxmlformats.org/officeDocument/2006/relationships/notesMaster" Target="/ppt/notesMasters/notesMaster1.xml" Id="R5b3daf6254a9400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4f16c4f56124f23" /><Relationship Type="http://schemas.openxmlformats.org/officeDocument/2006/relationships/notesMaster" Target="/ppt/notesMasters/notesMaster1.xml" Id="Ra6e4425984ae41b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08b8a717f7e4941" /><Relationship Type="http://schemas.openxmlformats.org/officeDocument/2006/relationships/notesMaster" Target="/ppt/notesMasters/notesMaster1.xml" Id="R2b36ef02c4d34fc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22c33b20d8649d4" /><Relationship Type="http://schemas.openxmlformats.org/officeDocument/2006/relationships/notesMaster" Target="/ppt/notesMasters/notesMaster1.xml" Id="R6a18158923144c3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09f321b13ab4250" /><Relationship Type="http://schemas.openxmlformats.org/officeDocument/2006/relationships/notesMaster" Target="/ppt/notesMasters/notesMaster1.xml" Id="R6ce0d6f55fca417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deffe8aa5284224" /><Relationship Type="http://schemas.openxmlformats.org/officeDocument/2006/relationships/notesMaster" Target="/ppt/notesMasters/notesMaster1.xml" Id="R99bbf77c9a58425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94baf9dbb86425b" /><Relationship Type="http://schemas.openxmlformats.org/officeDocument/2006/relationships/notesMaster" Target="/ppt/notesMasters/notesMaster1.xml" Id="Rb0767e4ad601481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f8133e260824571" /><Relationship Type="http://schemas.openxmlformats.org/officeDocument/2006/relationships/notesMaster" Target="/ppt/notesMasters/notesMaster1.xml" Id="R0e366dbb2e41494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f5afacdec9d439f" /><Relationship Type="http://schemas.openxmlformats.org/officeDocument/2006/relationships/notesMaster" Target="/ppt/notesMasters/notesMaster1.xml" Id="R4d3e95cfe67c4ac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c297007d78b4fe9" /><Relationship Type="http://schemas.openxmlformats.org/officeDocument/2006/relationships/notesMaster" Target="/ppt/notesMasters/notesMaster1.xml" Id="Re2d6f6c1c06f469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f12b916dab140e0" /><Relationship Type="http://schemas.openxmlformats.org/officeDocument/2006/relationships/notesMaster" Target="/ppt/notesMasters/notesMaster1.xml" Id="R1cfa028b967d4e0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8cf724eb21f4e28" /><Relationship Type="http://schemas.openxmlformats.org/officeDocument/2006/relationships/notesMaster" Target="/ppt/notesMasters/notesMaster1.xml" Id="R195cfcb3a2e846d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d258eb6752c444c" /><Relationship Type="http://schemas.openxmlformats.org/officeDocument/2006/relationships/notesMaster" Target="/ppt/notesMasters/notesMaster1.xml" Id="R2102dbfe7162444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afb153b58ad4d73" /><Relationship Type="http://schemas.openxmlformats.org/officeDocument/2006/relationships/notesMaster" Target="/ppt/notesMasters/notesMaster1.xml" Id="R53d4da52f6754af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896c605b84b47db" /><Relationship Type="http://schemas.openxmlformats.org/officeDocument/2006/relationships/notesMaster" Target="/ppt/notesMasters/notesMaster1.xml" Id="Rf09c8823cf464b0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a8b0a0ddc3f47ea" /><Relationship Type="http://schemas.openxmlformats.org/officeDocument/2006/relationships/notesMaster" Target="/ppt/notesMasters/notesMaster1.xml" Id="Rf398594cba92484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f7f7881600646b5" /><Relationship Type="http://schemas.openxmlformats.org/officeDocument/2006/relationships/notesMaster" Target="/ppt/notesMasters/notesMaster1.xml" Id="R1f9809a885a445d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0d23180559949f7" /><Relationship Type="http://schemas.openxmlformats.org/officeDocument/2006/relationships/notesMaster" Target="/ppt/notesMasters/notesMaster1.xml" Id="Ra390006dfb734f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project.json. Current deliverable is a synthetic laboratory. The available-hardware design uses Uno, one BioAmp EXG Pill, MPU-6050 and a hand gripper.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docs/ForearmSense_AI_AECD_PBL_REVISED_UNO.md, sections 1.1–1.5</a:t>
            </a:r>
          </a:p>
          <a:p xmlns:a="http://schemas.openxmlformats.org/drawingml/2006/main">
            <a:r>
              <a:t>Illustration: built-in image generation. Prompt: scientific editorial forearm and hand squeezing a spring gripper, three surface electrodes, white and mint background, forest green accents, no text or clinical claims. Concept only, no validated electrode placement or wiring.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project.json; docs/report-alignment.md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project.json; docs/fixed-hardware-project-map.md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project.json; docs/fixed-hardware-project-map.md. Functional diagram only. Live serial ingestion and calibration remain planned. No pin-level wiring or electrode placement is prescribed.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https://docs.upsidedownlabs.tech/hardware/bioamp/bioamp-exg-pill/index.html; project.json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schematic v1.0b: https://raw.githubusercontent.com/upsidedownlabs/BioAmp-EXG-Pill/main/graphics/docs/BioAmp-EXG-Pill-v1.0b-schematic.png; the actual module revision is unverified. The published schematic and current documentation may refer to different configurations. No component values are adopted as calibration.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v1.0b schematic excerpt: https://raw.githubusercontent.com/upsidedownlabs/BioAmp-EXG-Pill/main/graphics/docs/BioAmp-EXG-Pill-v1.0b-schematic.png. This is an older published reference. Do not infer installed gain or bandpass settings from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v1.0b schematic excerpt: https://raw.githubusercontent.com/upsidedownlabs/BioAmp-EXG-Pill/main/graphics/docs/BioAmp-EXG-Pill-v1.0b-schematic.png. Amp-reference and driven-reference circuit shown as manufacturer educational documentation, not a verified human-use installation.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https://product.tdk.com/system/files/dam/doc/product/sensor/mortion-inertial/imu/data_sheet/mpu-6000-datasheet1.pdf sections 3, 5 and 7; project.json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backend/app/simulation.py imu(); docs/engineering-analysis.md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https://docs.arduino.cc/hardware/uno-rev3/; https://support.arduino.cc/hc/en-us/articles/9350551575964-What-s-the-difference-between-UNO-R3-and-UNO-R4-boards; project.json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docs/fixed-hardware-project-map.md; https://docs.upsidedownlabs.tech/hardware/bioamp/bioamp-exg-pill/index.html; https://product.tdk.com/system/files/dam/doc/product/sensor/mortion-inertial/imu/data_sheet/mpu-6000-datasheet1.pdf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project.json task_protocol; docs/ForearmSense_AI_AECD_PBL_REVISED_UNO.md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docs/fixed-hardware-project-map.md section 5; revised report section 2.4.2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docs/fixed-hardware-project-map.md sections 5–6; project.json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frontend/package.json; backend/requirements.txt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backend/app/*.py;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backend/app/main.py; README.md API table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backend/app/main.py; backend/app/schemas.py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frontend/src/main.tsx, api.ts, EngineeringPanel.tsx, MLPanel.tsx, ProjectOverview.tsx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results/figures/dashboard-desktop.png, historical saved screenshot;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backend/app/artifacts.py; docs/ml-methodology.md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backend/app/schemas.py; main.py; ml.py; spice.py; artifacts.py; docs/verification.md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docs/architecture.md; docs/dsp-pipeline.md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docs/dsp-pipeline.md; docs/analog-design.md; results/metrics/trial-seed42.json</a:t>
            </a:r>
          </a:p>
          <a:p xmlns:a="http://schemas.openxmlformats.org/drawingml/2006/main">
            <a:r>
              <a:t>Image source: results/figures/frequency-analysis.png, magnitude panel. This chain is educational and does not describe verified BioAmp hardware settings. FIR output guarantees a passband through 400 Hz.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backend/app/analog.py; results/spice/devices.cir; https://www.ti.com/lit/ds/symlink/ina826.pdf . Functional device representation, not a verified body-connected circuit.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backend/app/engineering.py components()/transfer(); results/spice/ideal.cir. Ideal unity-buffer Sallen-Key candidate, AC-ground reference. Not the physical BioAmp circuit.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backend/app/engineering.py components()/transfer(); results/spice/ideal.cir. Ideal unity-buffer Sallen-Key candidate, AC-ground reference. Not the physical BioAmp circuit.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docs/analog-design.md; backend/app/analog.py; engineering.py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results/spice/devices.cir; docs/analog-design.md; https://www.ti.com/lit/ds/symlink/opa2376.pdf . Isolated OPA macro-model, 3.3 V supply, 1.65 V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docs/analog-design.md; backend/app/analog.py; results/metrics/trial-seed42.json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results/figures/frequency-analysis.png; docs/dsp-pipeline.md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backend/app/dsp.py; docs/dsp-pipeline.md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backend/app/dsp.py decimator(); saved results/metrics/trial-seed42.json; plotted response regenerated from the same coefficients and checked against saved tap count/ripple.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results/metrics/summary.json; results/metrics/trial-seed42.json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results/figures/motion-scenarios.png; results/engineering/summary.json; docs/engineering-analysis.md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results/figures/ppg-scenarios.png; results/engineering/summary.json; backend/app/simulation.py ppg(); docs/engineering-analysis.md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docs/ml-methodology.md; results/ml/metrics.json. Three outer folds group windows by trial. StandardScaler stays inside training pipelines. SVM has nested grouped probability calibration. Five models and three modality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docs/ml-methodology.md; backend/app/ml.py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results/figures/model-comparison.png; results/ml/metrics.json; seed 1000, 30 trials, 570 windows. Graph reports macro-F1, not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results/ml/metrics.json. Accuracy uses outer out-of-fold predictions, seed 1000, 30 trials, 570 windows.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docs/ml-methodology.md; results/ml/metrics.json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results/ml/metrics.json; results/ml/benchmark-report.md; docs/ml-methodology.md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results/ml/metrics.json record Random Forest / Fusion. Row = true class, column = predicted class. Counts are overlapping windows, not subjects.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results/figures/noise-budget.png; results/engineering/summary.json; backend/app/engineering.py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results/spice/verification.json; docs/verification.md, report alignment record 2026-10-23</a:t>
            </a:r>
          </a:p>
          <a:p xmlns:a="http://schemas.openxmlformats.org/drawingml/2006/main">
            <a:r>
              <a:t>Image: results/figures/component-tolerances.png. Candidate Sallen-Key model, ideal buffers, R +/-1%, C +/-5%, notch omitted. Simulation ranges are not guarantees for physical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results/figures/spice-verification.png; results/spice/verification.json; results/spice/ideal.cir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docs/verification.md, report-alignment and optimization records dated 2026-10-23. Historical local execution records, not rerun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Demonstrate; docs/verification.md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project.json; docs/report-alignment.md;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docs/fixed-hardware-project-map.md; docs/ml-methodology.md; docs/engineering-analysis.md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docs/fixed-hardware-project-map.md section 10; project.json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project.json; revised report conclusion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 URLs listed on this slide and in relevant speaker notes. Accessed 23 October 2026.</a:t>
            </a:r>
          </a:p>
          <a:p xmlns:a="http://schemas.openxmlformats.org/drawingml/2006/main">
            <a:r>
              <a:t>https://docs.upsidedownlabs.tech/hardware/bioamp/bioamp-exg-pill/index.html</a:t>
            </a:r>
          </a:p>
          <a:p xmlns:a="http://schemas.openxmlformats.org/drawingml/2006/main">
            <a:r>
              <a:t>https://docs.arduino.cc/hardware/uno-rev3/</a:t>
            </a:r>
          </a:p>
          <a:p xmlns:a="http://schemas.openxmlformats.org/drawingml/2006/main">
            <a:r>
              <a:t>https://product.tdk.com/system/files/dam/doc/product/sensor/mortion-inertial/imu/data_sheet/mpu-6000-datasheet1.pdf</a:t>
            </a:r>
          </a:p>
          <a:p xmlns:a="http://schemas.openxmlformats.org/drawingml/2006/main">
            <a:r>
              <a:t>https://www.ti.com/lit/ds/symlink/ina826.pdf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source index. All results retain their original synthetic/model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1f840d6e743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510df62c147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65b7839e340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16a80ae1f47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aebafb08e4e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5242e1c2f44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6A0CEE-501B-4971-BD69-BB3A18B1C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09C44F-C614-48A4-9572-A4B567682B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FEBA8E-C221-4AA7-A751-165F2A799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64ED69-3630-45C9-9F7D-5850B4639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93A0FE-761D-4A02-8192-05E8D015AD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09D70C-A09A-4F4B-8305-FFF987731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39A6F9-EAD9-47C8-ADCB-3A1AD8E04E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0AE449-659D-409C-B488-3E77387594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449A49-B99A-4FD5-88CF-76D2B2B338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7C91B2-2B7F-4229-9FCA-CCC3A94DC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bf512110254ee0" /><Relationship Type="http://schemas.openxmlformats.org/officeDocument/2006/relationships/slideLayout" Target="/ppt/slideLayouts/slideLayout1.xml" Id="R7a32cd273b6c49f3" /><Relationship Type="http://schemas.openxmlformats.org/officeDocument/2006/relationships/slideLayout" Target="/ppt/slideLayouts/slideLayout2.xml" Id="R4d2353c862994feb" /><Relationship Type="http://schemas.openxmlformats.org/officeDocument/2006/relationships/slideLayout" Target="/ppt/slideLayouts/slideLayout3.xml" Id="R40ac4ad905e446d0" /><Relationship Type="http://schemas.openxmlformats.org/officeDocument/2006/relationships/slideLayout" Target="/ppt/slideLayouts/slideLayout4.xml" Id="Re35dbc961fd04076" /><Relationship Type="http://schemas.openxmlformats.org/officeDocument/2006/relationships/slideLayout" Target="/ppt/slideLayouts/slideLayout5.xml" Id="R248f1644ad7748b3" /><Relationship Type="http://schemas.openxmlformats.org/officeDocument/2006/relationships/slideLayout" Target="/ppt/slideLayouts/slideLayout6.xml" Id="Rf2664e4e121d49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32cd273b6c49f3"/>
    <p:sldLayoutId xmlns:r="http://schemas.openxmlformats.org/officeDocument/2006/relationships" id="2147483650" r:id="R4d2353c862994feb"/>
    <p:sldLayoutId xmlns:r="http://schemas.openxmlformats.org/officeDocument/2006/relationships" id="2147483651" r:id="R40ac4ad905e446d0"/>
    <p:sldLayoutId xmlns:r="http://schemas.openxmlformats.org/officeDocument/2006/relationships" id="2147483652" r:id="Re35dbc961fd04076"/>
    <p:sldLayoutId xmlns:r="http://schemas.openxmlformats.org/officeDocument/2006/relationships" id="2147483653" r:id="R248f1644ad7748b3"/>
    <p:sldLayoutId xmlns:r="http://schemas.openxmlformats.org/officeDocument/2006/relationships" id="2147483654" r:id="Rf2664e4e121d49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5109878854ddb" /><Relationship Type="http://schemas.openxmlformats.org/officeDocument/2006/relationships/notesSlide" Target="/ppt/notesSlides/notesSlide1.xml" Id="R4887a419c01f45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25c6b28e664624" /><Relationship Type="http://schemas.openxmlformats.org/officeDocument/2006/relationships/image" Target="/ppt/media/image.png" Id="R8fd555dc4b1541b4" /><Relationship Type="http://schemas.openxmlformats.org/officeDocument/2006/relationships/notesSlide" Target="/ppt/notesSlides/notesSlide2.xml" Id="Rb63a3b308e1947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4ef284cc5438d" /><Relationship Type="http://schemas.openxmlformats.org/officeDocument/2006/relationships/notesSlide" Target="/ppt/notesSlides/notesSlide3.xml" Id="R5ec2896f8c7f48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d9cd12c2641e7" /><Relationship Type="http://schemas.openxmlformats.org/officeDocument/2006/relationships/notesSlide" Target="/ppt/notesSlides/notesSlide4.xml" Id="R48eacfdf1d6848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89f51a58f43e0" /><Relationship Type="http://schemas.openxmlformats.org/officeDocument/2006/relationships/notesSlide" Target="/ppt/notesSlides/notesSlide5.xml" Id="Rc8c7340fc2984b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a2c4864844266" /><Relationship Type="http://schemas.openxmlformats.org/officeDocument/2006/relationships/image" Target="/ppt/media/image2.png" Id="R6e83a8d2bc034f29" /><Relationship Type="http://schemas.openxmlformats.org/officeDocument/2006/relationships/notesSlide" Target="/ppt/notesSlides/notesSlide6.xml" Id="Rcb53aa77ccff43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43a2a9a594998" /><Relationship Type="http://schemas.openxmlformats.org/officeDocument/2006/relationships/image" Target="/ppt/media/image3.png" Id="R55a1119c2b1843ec" /><Relationship Type="http://schemas.openxmlformats.org/officeDocument/2006/relationships/notesSlide" Target="/ppt/notesSlides/notesSlide7.xml" Id="R8ed10f1cfdc640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947b5a7604fc2" /><Relationship Type="http://schemas.openxmlformats.org/officeDocument/2006/relationships/image" Target="/ppt/media/image4.png" Id="Rf0e586ac379e4827" /><Relationship Type="http://schemas.openxmlformats.org/officeDocument/2006/relationships/notesSlide" Target="/ppt/notesSlides/notesSlide8.xml" Id="R4a2b0163300443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ed32f45594045" /><Relationship Type="http://schemas.openxmlformats.org/officeDocument/2006/relationships/image" Target="/ppt/media/image5.png" Id="Rfb25c3c957664980" /><Relationship Type="http://schemas.openxmlformats.org/officeDocument/2006/relationships/notesSlide" Target="/ppt/notesSlides/notesSlide9.xml" Id="Ra0f83616800b4c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b209944364ab9" /><Relationship Type="http://schemas.openxmlformats.org/officeDocument/2006/relationships/notesSlide" Target="/ppt/notesSlides/notesSlide10.xml" Id="R70b94f4081ba48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8b95c914a4ccd" /><Relationship Type="http://schemas.openxmlformats.org/officeDocument/2006/relationships/notesSlide" Target="/ppt/notesSlides/notesSlide11.xml" Id="Rc82ba0f758994e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f138ee83f4f1e" /><Relationship Type="http://schemas.openxmlformats.org/officeDocument/2006/relationships/notesSlide" Target="/ppt/notesSlides/notesSlide12.xml" Id="R9054b298161446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c3c619b85416b" /><Relationship Type="http://schemas.openxmlformats.org/officeDocument/2006/relationships/notesSlide" Target="/ppt/notesSlides/notesSlide13.xml" Id="Rab9446bd45914e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dec840a80425c" /><Relationship Type="http://schemas.openxmlformats.org/officeDocument/2006/relationships/notesSlide" Target="/ppt/notesSlides/notesSlide14.xml" Id="Rc881d7da65754b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1d80f266d4745" /><Relationship Type="http://schemas.openxmlformats.org/officeDocument/2006/relationships/notesSlide" Target="/ppt/notesSlides/notesSlide15.xml" Id="R070a254e88274c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d165d77c04781" /><Relationship Type="http://schemas.openxmlformats.org/officeDocument/2006/relationships/notesSlide" Target="/ppt/notesSlides/notesSlide16.xml" Id="R8b16c55a2e8643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9e24948d2f4d04" /><Relationship Type="http://schemas.openxmlformats.org/officeDocument/2006/relationships/notesSlide" Target="/ppt/notesSlides/notesSlide17.xml" Id="R67a34b2a51c64f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d3abbd0354ce0" /><Relationship Type="http://schemas.openxmlformats.org/officeDocument/2006/relationships/notesSlide" Target="/ppt/notesSlides/notesSlide18.xml" Id="Rc67fc23a3cf747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d25ca22d54af9" /><Relationship Type="http://schemas.openxmlformats.org/officeDocument/2006/relationships/notesSlide" Target="/ppt/notesSlides/notesSlide19.xml" Id="R2b5e0db5b5d44a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c68879dac4f90" /><Relationship Type="http://schemas.openxmlformats.org/officeDocument/2006/relationships/notesSlide" Target="/ppt/notesSlides/notesSlide20.xml" Id="R877e8d2f92f34b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7004010874969" /><Relationship Type="http://schemas.openxmlformats.org/officeDocument/2006/relationships/notesSlide" Target="/ppt/notesSlides/notesSlide21.xml" Id="R55326e2fed5949c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0cca149bb41d1" /><Relationship Type="http://schemas.openxmlformats.org/officeDocument/2006/relationships/image" Target="/ppt/media/image6.png" Id="Rdab71bfe9ed9444a" /><Relationship Type="http://schemas.openxmlformats.org/officeDocument/2006/relationships/notesSlide" Target="/ppt/notesSlides/notesSlide22.xml" Id="Rdba117e9acdf43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919f0bef641a6" /><Relationship Type="http://schemas.openxmlformats.org/officeDocument/2006/relationships/notesSlide" Target="/ppt/notesSlides/notesSlide23.xml" Id="R77aa0f5cd45e486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a0f97f2f443a1" /><Relationship Type="http://schemas.openxmlformats.org/officeDocument/2006/relationships/notesSlide" Target="/ppt/notesSlides/notesSlide24.xml" Id="R10cdd0d3b30045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20968ddf846cb" /><Relationship Type="http://schemas.openxmlformats.org/officeDocument/2006/relationships/image" Target="/ppt/media/image7.png" Id="R0338dc7a35ba4ff7" /><Relationship Type="http://schemas.openxmlformats.org/officeDocument/2006/relationships/notesSlide" Target="/ppt/notesSlides/notesSlide25.xml" Id="Rc052475b116041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716c2aa6a469c" /><Relationship Type="http://schemas.openxmlformats.org/officeDocument/2006/relationships/image" Target="/ppt/media/image8.png" Id="R9dcca4c6aba04069" /><Relationship Type="http://schemas.openxmlformats.org/officeDocument/2006/relationships/notesSlide" Target="/ppt/notesSlides/notesSlide26.xml" Id="R96dd78f3e92d41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36625b05440db" /><Relationship Type="http://schemas.openxmlformats.org/officeDocument/2006/relationships/notesSlide" Target="/ppt/notesSlides/notesSlide27.xml" Id="R54ff7b0e352642e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9ad849d554f38" /><Relationship Type="http://schemas.openxmlformats.org/officeDocument/2006/relationships/notesSlide" Target="/ppt/notesSlides/notesSlide28.xml" Id="R76e8aefb079640f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20514f9aee44f4" /><Relationship Type="http://schemas.openxmlformats.org/officeDocument/2006/relationships/notesSlide" Target="/ppt/notesSlides/notesSlide29.xml" Id="R26f87fe7eab94bd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e3fe8724f460b" /><Relationship Type="http://schemas.openxmlformats.org/officeDocument/2006/relationships/notesSlide" Target="/ppt/notesSlides/notesSlide30.xml" Id="R0002b311df22409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29fb261f34dd8" /><Relationship Type="http://schemas.openxmlformats.org/officeDocument/2006/relationships/notesSlide" Target="/ppt/notesSlides/notesSlide31.xml" Id="Re5528ade7cb545f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6c1134f9f4c37" /><Relationship Type="http://schemas.openxmlformats.org/officeDocument/2006/relationships/notesSlide" Target="/ppt/notesSlides/notesSlide32.xml" Id="Rd7f8d3410794408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a641fa04e402d" /><Relationship Type="http://schemas.openxmlformats.org/officeDocument/2006/relationships/image" Target="/ppt/media/image9.png" Id="Rfdb37ce69ad74530" /><Relationship Type="http://schemas.openxmlformats.org/officeDocument/2006/relationships/notesSlide" Target="/ppt/notesSlides/notesSlide33.xml" Id="Rb608da815b6247e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394c7d2b64954" /><Relationship Type="http://schemas.openxmlformats.org/officeDocument/2006/relationships/notesSlide" Target="/ppt/notesSlides/notesSlide34.xml" Id="Rfc9ec32fea71418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c356538d32423d" /><Relationship Type="http://schemas.openxmlformats.org/officeDocument/2006/relationships/image" Target="/ppt/media/image10.png" Id="R933233b6f2f14730" /><Relationship Type="http://schemas.openxmlformats.org/officeDocument/2006/relationships/notesSlide" Target="/ppt/notesSlides/notesSlide35.xml" Id="Rb04733637af44e4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7b27d9e8844dc" /><Relationship Type="http://schemas.openxmlformats.org/officeDocument/2006/relationships/chart" Target="/ppt/slides/charts/chart1.xml" Id="R9f3f2ade73514d83" /><Relationship Type="http://schemas.openxmlformats.org/officeDocument/2006/relationships/notesSlide" Target="/ppt/notesSlides/notesSlide36.xml" Id="R4724b92e1a9e410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db0b330404f8a" /><Relationship Type="http://schemas.openxmlformats.org/officeDocument/2006/relationships/image" Target="/ppt/media/image11.png" Id="R78800afafe25419c" /><Relationship Type="http://schemas.openxmlformats.org/officeDocument/2006/relationships/notesSlide" Target="/ppt/notesSlides/notesSlide37.xml" Id="Rd1d815c0a9f04cd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ac2cc4f9014519" /><Relationship Type="http://schemas.openxmlformats.org/officeDocument/2006/relationships/image" Target="/ppt/media/image12.png" Id="R15710eaff6a64b12" /><Relationship Type="http://schemas.openxmlformats.org/officeDocument/2006/relationships/notesSlide" Target="/ppt/notesSlides/notesSlide38.xml" Id="R98eb9a4cc87748c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6ec8816d044ad" /><Relationship Type="http://schemas.openxmlformats.org/officeDocument/2006/relationships/notesSlide" Target="/ppt/notesSlides/notesSlide39.xml" Id="Rf2f91c7df9c2454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75aa7ef1745dc" /><Relationship Type="http://schemas.openxmlformats.org/officeDocument/2006/relationships/notesSlide" Target="/ppt/notesSlides/notesSlide40.xml" Id="R023ba7bdf915463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bf5ae0a19f4804" /><Relationship Type="http://schemas.openxmlformats.org/officeDocument/2006/relationships/image" Target="/ppt/media/image13.png" Id="R57ea56ed36534a88" /><Relationship Type="http://schemas.openxmlformats.org/officeDocument/2006/relationships/notesSlide" Target="/ppt/notesSlides/notesSlide41.xml" Id="R7b365248539e434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f56d456931430e" /><Relationship Type="http://schemas.openxmlformats.org/officeDocument/2006/relationships/notesSlide" Target="/ppt/notesSlides/notesSlide42.xml" Id="R39bcd50d4b12417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7abde7d554d47" /><Relationship Type="http://schemas.openxmlformats.org/officeDocument/2006/relationships/notesSlide" Target="/ppt/notesSlides/notesSlide43.xml" Id="Rb832026fa41f459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6ecf21f774914" /><Relationship Type="http://schemas.openxmlformats.org/officeDocument/2006/relationships/chart" Target="/ppt/slides/charts/chart2.xml" Id="Rd06555e5b9a94738" /><Relationship Type="http://schemas.openxmlformats.org/officeDocument/2006/relationships/notesSlide" Target="/ppt/notesSlides/notesSlide44.xml" Id="R18508229e12f4b4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39f85173b4ea3" /><Relationship Type="http://schemas.openxmlformats.org/officeDocument/2006/relationships/notesSlide" Target="/ppt/notesSlides/notesSlide45.xml" Id="R3c36bed7e9424ab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41fe0721b4ddc" /><Relationship Type="http://schemas.openxmlformats.org/officeDocument/2006/relationships/image" Target="/ppt/media/image14.png" Id="R1f7ed7c56b614584" /><Relationship Type="http://schemas.openxmlformats.org/officeDocument/2006/relationships/notesSlide" Target="/ppt/notesSlides/notesSlide46.xml" Id="Rf33e0a3cbb9e403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8646940eb45ba" /><Relationship Type="http://schemas.openxmlformats.org/officeDocument/2006/relationships/image" Target="/ppt/media/image15.png" Id="Ra2db17d8931643c2" /><Relationship Type="http://schemas.openxmlformats.org/officeDocument/2006/relationships/notesSlide" Target="/ppt/notesSlides/notesSlide47.xml" Id="R1cca8d2a8b25448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49b27c844429b" /><Relationship Type="http://schemas.openxmlformats.org/officeDocument/2006/relationships/image" Target="/ppt/media/image16.png" Id="R9755b8122afc4092" /><Relationship Type="http://schemas.openxmlformats.org/officeDocument/2006/relationships/notesSlide" Target="/ppt/notesSlides/notesSlide48.xml" Id="Rfa89a27a25b0409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ef26dc48449da" /><Relationship Type="http://schemas.openxmlformats.org/officeDocument/2006/relationships/notesSlide" Target="/ppt/notesSlides/notesSlide49.xml" Id="Rb05d23e09b5b4e3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375f3965da464b" /><Relationship Type="http://schemas.openxmlformats.org/officeDocument/2006/relationships/notesSlide" Target="/ppt/notesSlides/notesSlide50.xml" Id="R2d8b515b8d87475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3fbb2de954b14" /><Relationship Type="http://schemas.openxmlformats.org/officeDocument/2006/relationships/notesSlide" Target="/ppt/notesSlides/notesSlide51.xml" Id="R5da775c12bdf430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72045bd534477" /><Relationship Type="http://schemas.openxmlformats.org/officeDocument/2006/relationships/notesSlide" Target="/ppt/notesSlides/notesSlide52.xml" Id="Rb7d86b2ad75e430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920d9d3fc4e4d" /><Relationship Type="http://schemas.openxmlformats.org/officeDocument/2006/relationships/notesSlide" Target="/ppt/notesSlides/notesSlide53.xml" Id="R0667b18cef334e6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b582be73f42dc" /><Relationship Type="http://schemas.openxmlformats.org/officeDocument/2006/relationships/notesSlide" Target="/ppt/notesSlides/notesSlide54.xml" Id="R1ea525b7680249e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e49f46703440a" /><Relationship Type="http://schemas.openxmlformats.org/officeDocument/2006/relationships/notesSlide" Target="/ppt/notesSlides/notesSlide55.xml" Id="R84231a7072f646f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0d48f64784e12" /><Relationship Type="http://schemas.openxmlformats.org/officeDocument/2006/relationships/notesSlide" Target="/ppt/notesSlides/notesSlide56.xml" Id="R117076c9d225402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50 ms RMS (mV)</c:v>
          </c:tx>
          <c:spPr>
            <a:ln xmlns:a="http://schemas.openxmlformats.org/drawingml/2006/main" w="28575">
              <a:solidFill>
                <a:srgbClr val="00684A"/>
              </a:solidFill>
            </a:ln>
          </c:spPr>
          <c:marker>
            <c:symbol val="none"/>
          </c:marker>
          <c:cat>
            <c:numRef>
              <c:f>'Chart Data'!$A$2:$A$41</c:f>
              <c:numCache>
                <c:formatCode>General</c:formatCode>
                <c:ptCount val="40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  <c:pt idx="5">
                  <c:v>0.25</c:v>
                </c:pt>
                <c:pt idx="6">
                  <c:v>0.30</c:v>
                </c:pt>
                <c:pt idx="7">
                  <c:v>0.35</c:v>
                </c:pt>
                <c:pt idx="8">
                  <c:v>0.40</c:v>
                </c:pt>
                <c:pt idx="9">
                  <c:v>0.45</c:v>
                </c:pt>
                <c:pt idx="10">
                  <c:v>0.50</c:v>
                </c:pt>
                <c:pt idx="11">
                  <c:v>0.55</c:v>
                </c:pt>
                <c:pt idx="12">
                  <c:v>0.60</c:v>
                </c:pt>
                <c:pt idx="13">
                  <c:v>0.65</c:v>
                </c:pt>
                <c:pt idx="14">
                  <c:v>0.70</c:v>
                </c:pt>
                <c:pt idx="15">
                  <c:v>0.75</c:v>
                </c:pt>
                <c:pt idx="16">
                  <c:v>0.80</c:v>
                </c:pt>
                <c:pt idx="17">
                  <c:v>0.85</c:v>
                </c:pt>
                <c:pt idx="18">
                  <c:v>0.90</c:v>
                </c:pt>
                <c:pt idx="19">
                  <c:v>0.95</c:v>
                </c:pt>
                <c:pt idx="20">
                  <c:v>1.00</c:v>
                </c:pt>
                <c:pt idx="21">
                  <c:v>1.05</c:v>
                </c:pt>
                <c:pt idx="22">
                  <c:v>1.10</c:v>
                </c:pt>
                <c:pt idx="23">
                  <c:v>1.15</c:v>
                </c:pt>
                <c:pt idx="24">
                  <c:v>1.20</c:v>
                </c:pt>
                <c:pt idx="25">
                  <c:v>1.25</c:v>
                </c:pt>
                <c:pt idx="26">
                  <c:v>1.30</c:v>
                </c:pt>
                <c:pt idx="27">
                  <c:v>1.35</c:v>
                </c:pt>
                <c:pt idx="28">
                  <c:v>1.40</c:v>
                </c:pt>
                <c:pt idx="29">
                  <c:v>1.45</c:v>
                </c:pt>
                <c:pt idx="30">
                  <c:v>1.50</c:v>
                </c:pt>
                <c:pt idx="31">
                  <c:v>1.55</c:v>
                </c:pt>
                <c:pt idx="32">
                  <c:v>1.60</c:v>
                </c:pt>
                <c:pt idx="33">
                  <c:v>1.65</c:v>
                </c:pt>
                <c:pt idx="34">
                  <c:v>1.70</c:v>
                </c:pt>
                <c:pt idx="35">
                  <c:v>1.75</c:v>
                </c:pt>
                <c:pt idx="36">
                  <c:v>1.80</c:v>
                </c:pt>
                <c:pt idx="37">
                  <c:v>1.85</c:v>
                </c:pt>
                <c:pt idx="38">
                  <c:v>1.90</c:v>
                </c:pt>
                <c:pt idx="39">
                  <c:v>1.95</c:v>
                </c:pt>
              </c:numCache>
            </c:numRef>
          </c:cat>
          <c:val>
            <c:numRef>
              <c:f>'Chart Data'!$B$2:$B$41</c:f>
              <c:numCache>
                <c:formatCode>0.00</c:formatCode>
                <c:ptCount val="40"/>
                <c:pt idx="0">
                  <c:v>0.17720454671</c:v>
                </c:pt>
                <c:pt idx="1">
                  <c:v>0.157317491393</c:v>
                </c:pt>
                <c:pt idx="2">
                  <c:v>0.131808641765</c:v>
                </c:pt>
                <c:pt idx="3">
                  <c:v>0.121377040427</c:v>
                </c:pt>
                <c:pt idx="4">
                  <c:v>0.125941005401</c:v>
                </c:pt>
                <c:pt idx="5">
                  <c:v>0.148112623376</c:v>
                </c:pt>
                <c:pt idx="6">
                  <c:v>0.169242331606</c:v>
                </c:pt>
                <c:pt idx="7">
                  <c:v>0.203239707943</c:v>
                </c:pt>
                <c:pt idx="8">
                  <c:v>0.233732815348</c:v>
                </c:pt>
                <c:pt idx="9">
                  <c:v>0.257266016527</c:v>
                </c:pt>
                <c:pt idx="10">
                  <c:v>0.349077982595</c:v>
                </c:pt>
                <c:pt idx="11">
                  <c:v>0.388639222521</c:v>
                </c:pt>
                <c:pt idx="12">
                  <c:v>0.395862008252</c:v>
                </c:pt>
                <c:pt idx="13">
                  <c:v>0.300616207101</c:v>
                </c:pt>
                <c:pt idx="14">
                  <c:v>0.343700286488</c:v>
                </c:pt>
                <c:pt idx="15">
                  <c:v>0.26819719148</c:v>
                </c:pt>
                <c:pt idx="16">
                  <c:v>0.2567474237</c:v>
                </c:pt>
                <c:pt idx="17">
                  <c:v>0.213840125451</c:v>
                </c:pt>
                <c:pt idx="18">
                  <c:v>0.148436145401</c:v>
                </c:pt>
                <c:pt idx="19">
                  <c:v>0.140520580603</c:v>
                </c:pt>
                <c:pt idx="20">
                  <c:v>0.0904712586739</c:v>
                </c:pt>
                <c:pt idx="21">
                  <c:v>0.0809608876515</c:v>
                </c:pt>
                <c:pt idx="22">
                  <c:v>0.0792813284366</c:v>
                </c:pt>
                <c:pt idx="23">
                  <c:v>0.0812154971306</c:v>
                </c:pt>
                <c:pt idx="24">
                  <c:v>0.080118779121</c:v>
                </c:pt>
                <c:pt idx="25">
                  <c:v>0.0681968186312</c:v>
                </c:pt>
                <c:pt idx="26">
                  <c:v>0.084121559925</c:v>
                </c:pt>
                <c:pt idx="27">
                  <c:v>0.0803055449309</c:v>
                </c:pt>
                <c:pt idx="28">
                  <c:v>0.0925758612047</c:v>
                </c:pt>
                <c:pt idx="29">
                  <c:v>0.10256192803</c:v>
                </c:pt>
                <c:pt idx="30">
                  <c:v>0.114270961004</c:v>
                </c:pt>
                <c:pt idx="31">
                  <c:v>0.147518420231</c:v>
                </c:pt>
                <c:pt idx="32">
                  <c:v>0.236109060655</c:v>
                </c:pt>
                <c:pt idx="33">
                  <c:v>0.206110632012</c:v>
                </c:pt>
                <c:pt idx="34">
                  <c:v>0.319000505971</c:v>
                </c:pt>
                <c:pt idx="35">
                  <c:v>0.317335753318</c:v>
                </c:pt>
                <c:pt idx="36">
                  <c:v>0.381241467765</c:v>
                </c:pt>
                <c:pt idx="37">
                  <c:v>0.339088047397</c:v>
                </c:pt>
                <c:pt idx="38">
                  <c:v>0.306175720118</c:v>
                </c:pt>
                <c:pt idx="39">
                  <c:v>0.326213300255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E4D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Input-referred RMS (mV)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E8F8ED"/>
        </a:solidFill>
      </c:spPr>
    </c:plotArea>
    <c:plotVisOnly val="1"/>
  </c:chart>
  <c:spPr>
    <a:solidFill xmlns:a="http://schemas.openxmlformats.org/drawingml/2006/main">
      <a:srgbClr val="E8F8ED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Random Forest OOF accuracy</c:v>
          </c:tx>
          <c:spPr>
            <a:solidFill xmlns:a="http://schemas.openxmlformats.org/drawingml/2006/main">
              <a:srgbClr val="00684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EMG only</c:v>
                </c:pt>
                <c:pt idx="1">
                  <c:v>IMU only</c:v>
                </c:pt>
                <c:pt idx="2">
                  <c:v>EMG + IMU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0.350877192982</c:v>
                </c:pt>
                <c:pt idx="1">
                  <c:v>0.989473684211</c:v>
                </c:pt>
                <c:pt idx="2">
                  <c:v>0.905263157895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0068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E4D0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664AD-E661-43CC-B9CA-C0D681AB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FINAL PROJECT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E2E2F-3AD3-4455-A626-01DF758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57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DC611-6D04-4D42-A3E3-9112FE54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EMG and motion-based grip activity</a:t>
            </a:r>
          </a:p>
          <a:p xmlns:a="http://schemas.openxmlformats.org/drawingml/2006/main">
            <a:pPr>
              <a:buNone/>
              <a:defRPr sz="27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and stability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BE135-30EF-4B81-B223-30FC52C1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AECD · 25EC1302E</a:t>
            </a:r>
          </a:p>
          <a:p xmlns:a="http://schemas.openxmlformats.org/drawingml/2006/main">
            <a: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KL University, Hyderabad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F4551-5B87-4FBD-8CCE-BA9D82F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 Jaswant Goud   2510040007      G Abhishek   2510040015</a:t>
            </a:r>
          </a:p>
          <a:p xmlns:a="http://schemas.openxmlformats.org/drawingml/2006/main">
            <a:pPr>
              <a:buNone/>
              <a:defRPr sz="16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O GopiChand      2510040023      C Meghasyam  2510040072</a:t>
            </a:r>
          </a:p>
        </p:txBody>
      </p:sp>
    </p:spTree>
    <p:extLst>
      <p:ext uri="{BB962C8B-B14F-4D97-AF65-F5344CB8AC3E}">
        <p14:creationId xmlns:p14="http://schemas.microsoft.com/office/powerpoint/2010/main" val="321921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756B2-48BE-44B9-9480-21757CF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Problem and 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DC6DB-052F-49B9-9C3B-120DCBDE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39EE-D105-4D5B-ABDC-39E4CC54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979F2-EA16-460F-A8AE-4DD7BD20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47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Muscle activity needs</a:t>
            </a:r>
          </a:p>
          <a:p xmlns:a="http://schemas.openxmlformats.org/drawingml/2006/main">
            <a:pPr>
              <a:buNone/>
              <a:defRPr sz="29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movement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80512-AB2D-48B9-9C7E-2013A25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EMG describes electrical activation. Motion sensing distinguishes a steady grip from a grip with movement.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E0CA6-6C32-4ED9-9E5A-A943AA29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Activity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2B6BE-E969-456F-A203-1B2D2FA7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Activation timing and repetition 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4CCC1-59A1-4219-8509-0A0A04E6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Movement stability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84606-8793-423C-BB91-708CAB88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Acceleration and angular rate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FD05B-5C8F-473A-8FFA-AEB2BA417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555dc4b1541b4"/>
          <a:stretch xmlns:a="http://schemas.openxmlformats.org/drawingml/2006/main"/>
        </p:blipFill>
        <p:spPr>
          <a:xfrm xmlns:a="http://schemas.openxmlformats.org/drawingml/2006/main">
            <a:off x="6334125" y="1616869"/>
            <a:ext cx="5238750" cy="392906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ACF08-C565-4722-809B-2B3C59D0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Concept illustration, not the built prototype</a:t>
            </a:r>
          </a:p>
        </p:txBody>
      </p:sp>
    </p:spTree>
    <p:extLst>
      <p:ext uri="{BB962C8B-B14F-4D97-AF65-F5344CB8AC3E}">
        <p14:creationId xmlns:p14="http://schemas.microsoft.com/office/powerpoint/2010/main" val="1681666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B9BB4-B60F-4D66-B89B-21314F1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Project scope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700DA-88DB-4BE3-A73B-88FE23E7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1FF0B-A90A-42FB-9CA0-DD2FE7A4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55E1-D8CE-4A80-88DA-FF3A084A4F62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project establishes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Confirmed inventory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Uno, one BioAmp channel, MPU-6050 and hand gripper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Implemented software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Synthetic signals, analog/DSP analysis and grouped ML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Saved engineering studies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Analytical noise/tolerances and partial SPICE checks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Planned implementation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Live serial input, calibration, recording and replay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Unavailable measurements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Grip force, SpO₂, blood flow and absolute yaw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255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FE94D-49CE-4E8D-A2C3-02FAEEE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Available hardware and its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82253-68AD-4ADF-9A81-CA63BBBD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ED852-4787-4D27-9B01-88885F1C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F0C27-00FE-4FE7-83C6-56653D0D7CF8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3476625"/>
                <a:gridCol w="4591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Measurement boundary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BioAmp EXG Pill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One analog EMG channel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Gain and filtering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Arduino Uno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ADC and serial transport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Revision and rate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MPU-6050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Acceleration and gyro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Ranges and mounting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Hand gripper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Repeatable grip/release task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No force measurement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33004-598F-492A-8C4D-D5170A1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Confirmed inventory. Live acquisition and calibration remain planned.</a:t>
            </a:r>
          </a:p>
        </p:txBody>
      </p:sp>
    </p:spTree>
    <p:extLst>
      <p:ext uri="{BB962C8B-B14F-4D97-AF65-F5344CB8AC3E}">
        <p14:creationId xmlns:p14="http://schemas.microsoft.com/office/powerpoint/2010/main" val="292281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8AD13-7E44-4BBD-91AD-5E008B138915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277100" y="300990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7F265-22EB-493A-8511-B81DAF7DFF7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324850" y="25527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4D751-83A6-45AD-A53A-9A346D0FFCF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14975" y="25527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94A94-9E2D-4A17-9DC2-81336FABD54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05100" y="25527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D2F81-CED4-4E2C-BE8D-AAEEF335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Planned hardware data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AD5D0-39C8-4545-958D-0551963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DE4D3-3B5B-4BAC-B3AD-FED5532E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29FD4-69F8-4B3E-9796-975C2C1E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electrodes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EF9C3-CA62-482E-9EEA-5B46997A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955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BioAmp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EXG Pill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28072-9BD2-4EB2-AD78-C42D8A12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Arduino Uno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ADC + serial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4ABAE-2E08-46E1-8335-F1336384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95500"/>
            <a:ext cx="254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Laptop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FastAPI + 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07631-FD47-4293-BD79-302358B5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29075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MPU-6050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Accel + gyro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04C08-DD91-4321-AAF3-BE11E2F7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Analog EMG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AEAFB-0C36-48FC-B7C4-7F990FBA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Motion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FD9A9-7CD1-49BB-8344-304CA915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The gripper provides the task. It does not measure force.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20BDD-F69B-4990-908B-76DFE37F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Functional design only. Verify the board, firmware, sampling and calibration before live use.</a:t>
            </a:r>
          </a:p>
        </p:txBody>
      </p:sp>
    </p:spTree>
    <p:extLst>
      <p:ext uri="{BB962C8B-B14F-4D97-AF65-F5344CB8AC3E}">
        <p14:creationId xmlns:p14="http://schemas.microsoft.com/office/powerpoint/2010/main" val="99305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3DC19-9E88-45D6-9A79-CD8F1AF7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BioAmp EXG Pill: EMG front 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BD276-C0BA-45A7-9A78-4C46CD77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8CC6B-E81C-41ED-A751-F018DAE1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E4D8E-7A39-48F1-BF14-B947B3EA9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3a8d2bc034f29"/>
          <a:stretch xmlns:a="http://schemas.openxmlformats.org/drawingml/2006/main"/>
        </p:blipFill>
        <p:spPr>
          <a:xfrm xmlns:a="http://schemas.openxmlformats.org/drawingml/2006/main">
            <a:off x="732064" y="1781175"/>
            <a:ext cx="4898571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B4CB9-CDBC-46AB-B87C-6AA63DA0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One analog biopotential channel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D183C-BEE3-4FA8-AB90-732755DC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5143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Conditions a small electrode-voltage difference for the controller ADC.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Configurable gain and bandpass. Manufacturer documents 2- or 3-electrode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Module size: 25.4 × 10 mm.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373DF-5042-47AE-A2D1-D3FC890F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Manufacturer reference image. Actual revision, gain and filter configuration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42787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46BFF-B4C5-45BF-8335-037DAAC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BioAmp published circuit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4392B-82FB-4FF5-A2B6-FA198D07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34373-6205-484F-8EE3-1B946B62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B24A8-688D-4F36-A1C8-C7D4C616C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1119c2b1843ec"/>
          <a:stretch xmlns:a="http://schemas.openxmlformats.org/drawingml/2006/main"/>
        </p:blipFill>
        <p:spPr>
          <a:xfrm xmlns:a="http://schemas.openxmlformats.org/drawingml/2006/main">
            <a:off x="1118852" y="1790700"/>
            <a:ext cx="9954296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E2B9E-C775-4684-A6BA-C921838B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Published v1.0b instrumentation-amplifier excerpt. Reference only, not a verified schematic of the user’s module.</a:t>
            </a:r>
          </a:p>
        </p:txBody>
      </p:sp>
    </p:spTree>
    <p:extLst>
      <p:ext uri="{BB962C8B-B14F-4D97-AF65-F5344CB8AC3E}">
        <p14:creationId xmlns:p14="http://schemas.microsoft.com/office/powerpoint/2010/main" val="423715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4459F-E605-4E6D-A415-423CCF4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BioAmp published bandpass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C0094-C0E9-4AEA-90CD-A7801A4A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2BCBF-27DB-46F5-96E6-A200CC89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F9047-AAA0-4079-B4B8-832884F64E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586ac379e4827"/>
          <a:stretch xmlns:a="http://schemas.openxmlformats.org/drawingml/2006/main"/>
        </p:blipFill>
        <p:spPr>
          <a:xfrm xmlns:a="http://schemas.openxmlformats.org/drawingml/2006/main">
            <a:off x="729476" y="1733550"/>
            <a:ext cx="10733049" cy="3667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0CBA6-5A63-4F92-B4A0-E872816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Published v1.0b filter/gain configuration. Actual module revision and assembled settings require inspection.</a:t>
            </a:r>
          </a:p>
        </p:txBody>
      </p:sp>
    </p:spTree>
    <p:extLst>
      <p:ext uri="{BB962C8B-B14F-4D97-AF65-F5344CB8AC3E}">
        <p14:creationId xmlns:p14="http://schemas.microsoft.com/office/powerpoint/2010/main" val="19754561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F69FB-8FB8-4651-845D-BF72F230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BioAmp published reference and bias circuit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C5F81-4A6B-4E3B-AC36-774FB26C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70D43-A4C9-44BD-A17C-76F621B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D6AE7-1519-47B2-AFE8-18F23A83C7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5c3c957664980"/>
          <a:stretch xmlns:a="http://schemas.openxmlformats.org/drawingml/2006/main"/>
        </p:blipFill>
        <p:spPr>
          <a:xfrm xmlns:a="http://schemas.openxmlformats.org/drawingml/2006/main">
            <a:off x="1333500" y="1638300"/>
            <a:ext cx="9525000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C84BA-4EEE-4859-B032-B07ED4F2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Published amp-reference / driven-reference stage. This diagram does not establish body-connected safety.</a:t>
            </a:r>
          </a:p>
        </p:txBody>
      </p:sp>
    </p:spTree>
    <p:extLst>
      <p:ext uri="{BB962C8B-B14F-4D97-AF65-F5344CB8AC3E}">
        <p14:creationId xmlns:p14="http://schemas.microsoft.com/office/powerpoint/2010/main" val="171764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820D9-5D63-4ABB-8006-4B61CF2FCB1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23200" y="21812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54312-215E-4CA6-88A6-FEA038A5C12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64000" y="21812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72514-5843-464C-9AB7-3E8D0E8C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MPU-6050: six-axis motion sensing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7E87C-5382-4A69-81E3-9FF63E98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9A858-B7B1-4F43-BCEC-F6A73F9C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63A15-1580-4F0A-B040-891144FD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3454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3-axis accel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+ 3-axis gyro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12B0C-950B-4F2D-A0FD-4261A2BA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704975"/>
            <a:ext cx="3454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On-chip ADCs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and registers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D26A9-EADA-4856-A445-7C21F713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704975"/>
            <a:ext cx="3454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I²C digital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DBC06-690B-4E5F-A990-E4506451512A}"/>
              </a:ext>
            </a:extLst>
          </p:cNvPr>
          <p:cNvGraphicFramePr/>
          <p:nvPr/>
        </p:nvGraphicFramePr>
        <p:xfrm>
          <a:off xmlns:a="http://schemas.openxmlformats.org/drawingml/2006/main" x="609600" y="31908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Sensor capability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this project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Acceleration: ±2 / 4 / 8 / 16 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Movement context and gravity-based tilt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Gyro: ±250 / 500 / 1000 / 2000 °/s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Angular motion and steadiness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16-bit outputs; no magnetometer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Scale follows configured range; no compass heading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09073-AE91-4D4A-9D68-FB67E27F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Datasheet ranges are selectable capabilities. Actual module settings and electrical compatibility need verification.</a:t>
            </a:r>
          </a:p>
        </p:txBody>
      </p:sp>
    </p:spTree>
    <p:extLst>
      <p:ext uri="{BB962C8B-B14F-4D97-AF65-F5344CB8AC3E}">
        <p14:creationId xmlns:p14="http://schemas.microsoft.com/office/powerpoint/2010/main" val="917941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CD89E-A787-4641-BC5B-4D892EDED5D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91575" y="3167063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BC671-C20E-4E46-8C64-0853182E180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38600" y="3167063"/>
            <a:ext cx="137160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EC5F2-81FD-4BA5-BF31-6C3575D274D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38600" y="2243138"/>
            <a:ext cx="1371600" cy="923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FC832-D175-4597-82EE-ADB0B2F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Motion processing and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B3860-1BDB-4298-80D8-7A3B7854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D73BB-9E80-4DF0-A88E-AE16AC96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8F9D4-FAB9-461D-8DF6-27C51103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Acceleration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Gravity-based tilt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E09F0-9009-45B1-A00D-6D09A030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Gyroscope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Integrated rotation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2C67B-3357-4A8F-ACA2-2627F326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67000"/>
            <a:ext cx="3381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Complementary filter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α = 0.98 in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4EF3A-D48F-4540-9468-6BF85EBA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2057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Pitch + roll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5B3BA-A557-4893-A790-D89E63D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Tilt estimate = 0.98 × (previous estimate + gyro × Δt) + 0.02 × accelerometer tilt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D362F-4F5A-45FA-8A75-22BEA11E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Synthetic IMU runs at 200 Hz. Linear acceleration can bias tilt; gyro integration drifts. Absolute yaw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8824753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72589-6C3B-4E53-914C-430E4CC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Arduino Uno and ADC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4F469-2C17-4635-ABE1-3A8D636E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51B9A-2422-442E-B3FE-EF81E39E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148B0-A7FE-440A-833B-DA51B9BFE085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95750"/>
                <a:gridCol w="4019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Classic Uno R3 example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project status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Controller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ATmega328P, 16 MHz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Actual Uno revision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Analog conversion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10-bit: codes 0–1023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Firmware/reference unverified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Endpoint conversion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V ≈ code × Vref / 1023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Keep raw counts until verified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If Vref = 5.000 V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4.8876 mV per count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Conditional calculation only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Educational simulator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12-bit, 3.3 V, 4 kHz default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Separate from physical Uno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0382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FA80E-7D12-4845-BC20-E6945A9E447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29500" y="2409825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D89C0-3795-4357-B76E-298E2A999BA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276600" y="2838450"/>
            <a:ext cx="2724150" cy="16287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52C9D-BCAB-4B17-9F6C-FFC82DC5FDA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76600" y="2409825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3BBD9-F3CB-4D1C-A9D8-259F0C22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Sensor and controller 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F40E2-F162-429F-8FC6-9F2EFF4B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C4522-4332-4E69-8FA5-0DD6BE69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208C8-E782-4F3A-94D3-4CE3CF02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BioAmp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Analog 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91F92-0E6F-4EF0-8389-548AE8E5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Uno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ADC + firmware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4D0CA-E978-4A6A-AB2B-572C9C78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MPU-6050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SDA + SCL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97E4B-366B-41D7-A68A-1B139F76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781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Laptop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Serial ingestion planned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D7D9F-9508-4F53-A259-A269C0EA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Analog voltage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E45E2-10DE-41B8-8529-FD4ABF0E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I²C motion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8D671-8F68-4F97-9A20-09177545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Shared signal reference, compatible power and logic levels require board-specific verification.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8E0C6-19BD-4E7A-8C49-AD29D7C7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Interface diagram only. Exact pins, power and installed firmware require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0275784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DABDD-9289-4913-BB4D-7D2B1DD4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Planned 35-second grip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86F52-6D4C-40DF-A8D9-F598139A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3FB67-53F0-4B22-B2C2-F1E276A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823B3-18DB-4FD4-8DA3-19F5947C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Three 5-second squeezes separated by 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F212A-03C2-4894-BADC-222CFF5C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FB39C-A3D3-4F65-ADD1-346EC42C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0-5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C9B40-95D6-49C9-B23F-63238C92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Squeeze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86CA7-91A8-483B-B5DD-5719E6BD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5-10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58659-D811-4E2A-81E0-248ED986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BC79E-2F82-4795-BEA2-DBFF9728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10-15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87AF5-7D97-47C8-B895-E7C6262D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Squeeze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0CBC6-511A-4890-AD21-351B6932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15-20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B96B3-2858-4254-B535-FC9917A1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F8232-9593-4028-B555-FA9AA1F3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20-25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D6F7C-1B2D-4351-A653-BAEC1718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Squeeze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E801D-75B3-42D5-93C5-01865835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25-30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30F3F-D933-4477-BFE0-9011BE60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05100"/>
            <a:ext cx="1504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908CD-2426-4B00-9260-1E6C9F0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95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30-35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79C99-5582-4ABC-95E4-32A52717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 phases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B8C34-7B9B-445F-B3FF-17380662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Baseline and relaxation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30E9F-01D8-4C99-AC7B-0171518A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Squeeze phases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AD076-4DCB-4EA4-89F9-FEDF8E3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482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Activation timing, envelope consistency</a:t>
            </a:r>
          </a:p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and movement steadiness</a:t>
            </a:r>
          </a:p>
        </p:txBody>
      </p:sp>
    </p:spTree>
    <p:extLst>
      <p:ext uri="{BB962C8B-B14F-4D97-AF65-F5344CB8AC3E}">
        <p14:creationId xmlns:p14="http://schemas.microsoft.com/office/powerpoint/2010/main" val="1373637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E60A9-15EB-4570-81DE-8DBFEEB1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Sampling and serial bandwidth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F62F0-5B2B-43B7-A395-7B1AFE0A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81F5D-593F-42C5-9A26-4A5C4B7E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3AE3B-9395-49CB-8A66-9900AB4E11E1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Consequence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250 raw samples/s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Nyquist = 125 Hz. Cannot preserve a 450 Hz band.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500 internal samples/s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Nyquist = 250 Hz. Still below the proposed full band.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115200 baud, 8N1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Nominal transport capacity: 11,520 bytes/s.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70-byte packet at 200 packets/s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14,000 bytes/s exceeds that capacity.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UI refresh versus sampling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Redraw rate must not determine recorded sample count.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6939A-D1CF-4AA2-A08B-4093202A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Legacy rates are unverified descriptions. Measure the actual sketch, packet length and device timing.</a:t>
            </a:r>
          </a:p>
        </p:txBody>
      </p:sp>
    </p:spTree>
    <p:extLst>
      <p:ext uri="{BB962C8B-B14F-4D97-AF65-F5344CB8AC3E}">
        <p14:creationId xmlns:p14="http://schemas.microsoft.com/office/powerpoint/2010/main" val="8516340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BAC71-D37A-476C-AE45-D7D7AFEA88A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63000" y="2238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A636B-CB65-43C0-B9AC-B22F18C9FE1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43600" y="2238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3C79E-374F-4542-B311-2163C5B2409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24200" y="2238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12212-98B2-47AF-822D-36BB5D7C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Planned calibration and session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CCFCC-7C3B-412E-B36D-19438F1D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CEF6E-9C6D-4797-99FC-9C75083F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3CA12-EE61-492C-80A7-0EF53F1D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firmware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sensor ranges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92B50-A4A5-4CB9-8D44-5CB268D4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Record a quiet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04957-69EA-4F9C-8999-4C97ACC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Record a reference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contraction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9A5EA-9B26-42E7-9B38-131308DD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62125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Run the 35 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grip 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32342-68F2-430D-ABAA-4D2D22A2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EMG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76C17-B69C-4041-A1F7-EEEDE131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Confirm ADC bounds, reference, bias, clipping and usable acquisition bandwidth.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94D99-2687-480C-BAA6-910BD4BB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29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Motion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8635E-2230-4AB8-BF19-CBC80BEE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52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Check gyro offset, mounting orientation, rate and timestamp continuity.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6E539-08AE-432F-86ED-1FBAC8E2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Normalize only within the recorded session. A comfortable reference contraction is not a validated MVC.</a:t>
            </a:r>
          </a:p>
        </p:txBody>
      </p:sp>
    </p:spTree>
    <p:extLst>
      <p:ext uri="{BB962C8B-B14F-4D97-AF65-F5344CB8AC3E}">
        <p14:creationId xmlns:p14="http://schemas.microsoft.com/office/powerpoint/2010/main" val="2291453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191CB-B98F-4C1A-A934-B2BF65277D7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857500"/>
            <a:ext cx="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EBEC3-880E-47AB-8BB0-F6FD0D70B3D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20000" y="2357438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9BD5C-CBA8-4968-AD2B-7EC62999609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57600" y="2357438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3CCB3-8F15-45FC-9721-A7AD51D9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Local 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CA60A-B817-4F32-8A87-690DFF36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19A39-5DC3-4DEB-83A9-0580A31D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FC956-01C8-415B-B47B-8C4B272B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04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8047F-DFE8-4AEC-96EF-EF02E668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57375"/>
            <a:ext cx="304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 API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+ 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7B9A2-BE2C-4090-AEAD-7985C6DB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57375"/>
            <a:ext cx="304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Numerical engine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NumPy + SciPy + sklearn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E9903-FA7A-41D4-8F44-11530318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24325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Local files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JSON / CSV / joblib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E7ACF-8768-4BB1-B9C7-53FF7055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Recharts renders plots. Vite serves the frontend and proxies API calls.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C406A-F487-44FF-963D-EE64903F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Loopback application: frontend 5173, backend 8000. No MongoDB, cloud service or database is implemented.</a:t>
            </a:r>
          </a:p>
        </p:txBody>
      </p:sp>
    </p:spTree>
    <p:extLst>
      <p:ext uri="{BB962C8B-B14F-4D97-AF65-F5344CB8AC3E}">
        <p14:creationId xmlns:p14="http://schemas.microsoft.com/office/powerpoint/2010/main" val="12039039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1545D-E379-4063-AFBA-707FFCBA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Backend module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A753C-D403-4ABD-B955-A7DC1C04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CBCBB-0EDA-4991-9FC2-11D26287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8AC31-3859-4494-83D1-7E4EB8CCF6A7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467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schemas.py + main.py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Bounded configuration, routes and numerical responses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simulation.py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Seeded EMG, motion and educational PPG scenarios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analog.py + engineering.py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Conditioning, R/C topology, noise and tolerance study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dsp.py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Spectrum, features, windows and FIR decimation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ml.py + artifacts.py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Grouped benchmark, inference and complete-run publication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spice.py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Fixed netlists, solver execution and numerical acceptance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7058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20F99-7577-4AA8-BE08-C7EFEBFF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Simulation and engineering APIs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96271-08DB-4823-805F-83C2B9BC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8682C-2F72-436E-9D84-90A0790A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44CCA-ED27-40D3-8D23-688B650B16AA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400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591175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Route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POST /api/simulation/multimodal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One synchronized synthetic trial with EMG, IMU and PPG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POST /api/simulation/emg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Same complete trial response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POST /api/simulation/imu or /ppg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Standalone secondary modality arrays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POST /api/dsp/analyze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Analyze a generated trial, not uploaded samples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POST /api/analog/analyze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Analytical response, noise and tolerances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POST /api/analog/spice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Execute a separate local circuit verification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3514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12089-6E5A-4F1F-AE12-6FAEBC1E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Project and machine learning APIs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A7B07-E622-4DD8-9E2A-3A8E42F6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3039D-05DE-4A29-8710-1ACB5771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81FD0-CCF5-46D9-A2C7-C7DED23F21E6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400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591175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Route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Behavior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GET /api/health, /project, /config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Status, inventory and bounded defaults/schema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GET /api/project/report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Serve revised PDF, or 404 if missing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POST /api/ml/train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Five models, 6–12 trials per class, grouped metrics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GET /api/ml/metrics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Completed benchmark in current server process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POST /api/ml/predict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Predict a generated trial using a trained fusion model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Error handling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422 invalid input; 409 unavailable/concurrent training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083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DF75D-8631-45D7-8E1E-0B0BAA1224B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63000" y="2266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40A88-2C09-42B0-AD29-FDE96611E99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43600" y="2266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00A0F-8F0C-4031-9EFD-D04A5C06190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24200" y="2266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0A724-8728-447F-A61B-783DB127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Frontend state and interaction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F6770-1311-440A-ABC9-E60B4126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9F97D-31B7-48A0-9552-555A0F8E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BB920-603E-41BF-BFAB-6D3EF29A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 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63E55-7022-4979-B674-493C7350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Cancel stale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17718-5E21-486D-AF1E-C3F4598E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Request a new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seeded trial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DE673-400E-4CBC-BF00-076F66CD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9070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Render completed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1ECCF-A7D3-4AF0-862D-3414FF41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Simulation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39612-CC84-4DCF-B10C-0002DCD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Start advances seeds. Pause holds the last completed trial. Reset restores defaults.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43A88-333A-465F-9B50-19D963AA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Consistent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6AB69-FDBE-4742-ABCC-B166519D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4812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AbortController and generation checks reject late replies. Export uses the completed response.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3FE74-82E6-4F6D-9CA4-C8D38108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Project overview, EMG, analog, motion/pulse, machine learning and experiment-details views share the typed API.</a:t>
            </a:r>
          </a:p>
        </p:txBody>
      </p:sp>
    </p:spTree>
    <p:extLst>
      <p:ext uri="{BB962C8B-B14F-4D97-AF65-F5344CB8AC3E}">
        <p14:creationId xmlns:p14="http://schemas.microsoft.com/office/powerpoint/2010/main" val="1622783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2B22-7D3B-4BC8-8C8E-6D500FF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Interactive simulation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1E3A3-81A6-4AF1-A92D-E3224C3B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EC43F-C454-4BAA-BBF5-3EE2C5FB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4EE72-6274-4E9E-ACAC-4B0D2C8649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71bfe9ed9444a"/>
          <a:stretch xmlns:a="http://schemas.openxmlformats.org/drawingml/2006/main"/>
        </p:blipFill>
        <p:spPr>
          <a:xfrm xmlns:a="http://schemas.openxmlformats.org/drawingml/2006/main">
            <a:off x="2159166" y="1466850"/>
            <a:ext cx="7873667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43970-FCC5-4D51-A311-7257489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Adjust scenarios, inspect waveforms and export the full numerical trial.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65254-DE03-4B60-A173-39BD8A96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Saved simulation view. Navigation predates report alignment.</a:t>
            </a:r>
          </a:p>
        </p:txBody>
      </p:sp>
    </p:spTree>
    <p:extLst>
      <p:ext uri="{BB962C8B-B14F-4D97-AF65-F5344CB8AC3E}">
        <p14:creationId xmlns:p14="http://schemas.microsoft.com/office/powerpoint/2010/main" val="19072455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89892-35C5-4404-B03A-9F8F2D71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Numerical outputs and artifact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41A04-8DE3-4A30-932D-9ACA1580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FB896-F1C0-4DF8-8085-7D2B67E4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2A9A2-88D5-42FC-9CA8-9D36B6ABFD02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Saved evidence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datasets/synthetic/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EMG/IMU/PPG samples and feature datasets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results/metrics/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Seeded trial response and feature/filter summary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results/engineering/ + results/spice/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Scenarios, component studies, netlists and solver output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results/ml/runs/run-&lt;id&gt;/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Metrics, dataset, held-out predictions and fusion models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results/ml/current.json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Atomic pointer to the last successfully saved run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results/figures/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Executed experiment plots and dashboard screenshots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D1DB3-22E9-4E5E-A08B-1A1AC166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New runs preserve earlier results. The server trains in-process and does not auto-load saved joblib models.</a:t>
            </a:r>
          </a:p>
        </p:txBody>
      </p:sp>
    </p:spTree>
    <p:extLst>
      <p:ext uri="{BB962C8B-B14F-4D97-AF65-F5344CB8AC3E}">
        <p14:creationId xmlns:p14="http://schemas.microsoft.com/office/powerpoint/2010/main" val="21474065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86BA5-8559-43BF-95B7-B3DF9A73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Input validation and run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3CF8D-4D40-4AF2-AE69-F307F1FD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8B0FF-3A8F-48D1-B7FC-76DA1735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45ED1-05EB-4AF8-B869-2773178BE944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6638925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Boundary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protection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Simulation configuration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Finite values, unknown-field rejection, bounded settings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Compute size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1–10 s trials; fixed 2/4/8 kHz simulation rates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Training and prediction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Single training lock; require a trained in-process model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SPICE execution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Fixed generated netlists, run lock and 45 s solver timeout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Numerical acceptance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Validate finite data, gain and complete transient duration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Artifact publication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Write a complete run before replacing the current pointer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21BA9-BA3B-471B-A367-963D4C6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Local prototype protections do not constitute multi-user deployment hardening or an authentication system.</a:t>
            </a:r>
          </a:p>
        </p:txBody>
      </p:sp>
    </p:spTree>
    <p:extLst>
      <p:ext uri="{BB962C8B-B14F-4D97-AF65-F5344CB8AC3E}">
        <p14:creationId xmlns:p14="http://schemas.microsoft.com/office/powerpoint/2010/main" val="11102494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355AB-12DE-41DB-BBDC-39FACAE8D1A8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763000" y="21717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E5F45-B03D-4097-B75B-CBA9FF57257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43600" y="21717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BFCAB6-8370-4D09-B9A5-099BB5DD055E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24200" y="21717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D79DA-88D2-4F1A-93F5-796C6D04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Software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D6AC0-08AB-4987-8E2F-F457D2C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93EEE-1A7B-4C01-9265-08EEFE9F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4F834-9CD6-4B0E-B0E9-03033662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seeded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096DE-EAD2-4FAD-897F-23FB7C54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Model analog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conditioning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A0E35-53B7-4B07-9287-1B7A52B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Extract EMG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and IMU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63693-5134-4828-9DE4-73FB85A8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Review results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and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55C11-F47B-47B3-A1FB-0A2E4347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Saved synthetic signal example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7A616-D3C5-440F-BE19-7411E727D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8dc7a35ba4ff7"/>
          <a:stretch xmlns:a="http://schemas.openxmlformats.org/drawingml/2006/main"/>
        </p:blipFill>
        <p:spPr>
          <a:xfrm xmlns:a="http://schemas.openxmlformats.org/drawingml/2006/main">
            <a:off x="2719754" y="3476625"/>
            <a:ext cx="6752492" cy="22860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BF93D-F1E1-495C-87A7-06087A36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FastAPI backend + React/TypeScript frontend</a:t>
            </a:r>
          </a:p>
        </p:txBody>
      </p:sp>
    </p:spTree>
    <p:extLst>
      <p:ext uri="{BB962C8B-B14F-4D97-AF65-F5344CB8AC3E}">
        <p14:creationId xmlns:p14="http://schemas.microsoft.com/office/powerpoint/2010/main" val="12779321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DD795-AD16-46A2-9522-931DCA0D9230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63000" y="20335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3CD01-0AC4-4A3D-83AE-847E2EC78A9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43600" y="20335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000BA-BE41-4E2A-B28C-726CCECF59B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24200" y="20335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5DD26-9D1A-4C81-BEC4-460E2B6E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Analog conditioning and digital 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C9354-2806-49C3-AAD9-FDF6B0C4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E5BC8-F104-4485-9941-2D5B2F92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80976-EE41-44DB-B6F6-8782B3A5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2514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High-pass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20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34DF0-976F-4FD2-8E24-ADF987DD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2514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Notch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50 Hz, optional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73157-611D-4229-9C9B-07F7BBDC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2514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Low-pass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450 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A8AF9-B4AC-4C93-AFDB-B09FEA02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28775"/>
            <a:ext cx="2514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ADC model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12-bit, 4 kHz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411E6-CC45-4D63-8654-6DFAED18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Educational filter model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BBE99-790C-4787-9A77-5923DD7A78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ca4c6aba04069"/>
          <a:stretch xmlns:a="http://schemas.openxmlformats.org/drawingml/2006/main"/>
        </p:blipFill>
        <p:spPr>
          <a:xfrm xmlns:a="http://schemas.openxmlformats.org/drawingml/2006/main">
            <a:off x="1478492" y="3238500"/>
            <a:ext cx="4453467" cy="2505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FD107-651B-4511-966F-A3FB1736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Digital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08B9F-9C68-423F-9963-57CAB55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0425"/>
            <a:ext cx="40957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200 ms windows</a:t>
            </a:r>
          </a:p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100 ms hop</a:t>
            </a:r>
          </a:p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RMS and spectral features</a:t>
            </a:r>
          </a:p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FIR output at 1 kHz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84559-1C4A-4EB1-8D95-781C6B5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 250 Hz raw stream cannot preserve a 450 Hz EMG band.</a:t>
            </a:r>
          </a:p>
        </p:txBody>
      </p:sp>
    </p:spTree>
    <p:extLst>
      <p:ext uri="{BB962C8B-B14F-4D97-AF65-F5344CB8AC3E}">
        <p14:creationId xmlns:p14="http://schemas.microsoft.com/office/powerpoint/2010/main" val="8220034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3AC09-0CB6-416D-A78B-9D58E6A8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Educational INA826 gain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04CDB-1BD7-4615-8991-F3E9DF0B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3CB42-50C0-4FA7-8A34-61F2B7C5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8A899-D7D2-4B6E-B54C-F7DD0DAD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19325"/>
            <a:ext cx="3714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INA826</a:t>
            </a:r>
          </a:p>
          <a:p xmlns:a="http://schemas.openxmlformats.org/drawingml/2006/main">
            <a:pPr algn="ctr"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Differential instrumentation amplifier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8D66A-BBF6-47C1-AC70-8A2DA3D7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619375" cy="9525"/>
          </a:xfrm>
          <a:custGeom xmlns:a="http://schemas.openxmlformats.org/drawingml/2006/main">
            <a:pathLst>
              <a:path w="2619375" h="9525">
                <a:moveTo>
                  <a:pt x="0" y="0"/>
                </a:moveTo>
                <a:lnTo>
                  <a:pt x="2619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669D6-442F-476B-BD2A-61DAC86D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2619375" cy="9525"/>
          </a:xfrm>
          <a:custGeom xmlns:a="http://schemas.openxmlformats.org/drawingml/2006/main">
            <a:pathLst>
              <a:path w="2619375" h="9525">
                <a:moveTo>
                  <a:pt x="0" y="0"/>
                </a:moveTo>
                <a:lnTo>
                  <a:pt x="2619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94906-37A2-4B28-9691-C7FB8796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IN+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C4438-4C44-4DAB-927F-586F4E7E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IN−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F6448-AEC3-42A2-820E-FEA992A4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333750" cy="9525"/>
          </a:xfrm>
          <a:custGeom xmlns:a="http://schemas.openxmlformats.org/drawingml/2006/main">
            <a:pathLst>
              <a:path w="3333750" h="9525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22BB2-849C-4371-95F7-6A61C5DE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288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Vout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C602E-40B0-487F-9565-E8CD8D9A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14500"/>
            <a:ext cx="9525" cy="504825"/>
          </a:xfrm>
          <a:custGeom xmlns:a="http://schemas.openxmlformats.org/drawingml/2006/main">
            <a:pathLst>
              <a:path w="9525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B6C1C-1516-473A-8828-D6897F42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049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3.3 V model supply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E9AC4-4602-46B4-AB5D-9BA246B6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666750" cy="685800"/>
          </a:xfrm>
          <a:custGeom xmlns:a="http://schemas.openxmlformats.org/drawingml/2006/main">
            <a:pathLst>
              <a:path w="666750" h="685800">
                <a:moveTo>
                  <a:pt x="0" y="0"/>
                </a:moveTo>
                <a:lnTo>
                  <a:pt x="0" y="685800"/>
                </a:lnTo>
                <a:lnTo>
                  <a:pt x="666750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3581B-9644-409D-B4DD-EDFCAC52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E1F25-48D8-4E30-A1D9-19C177D7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BEB5F-927D-41CF-A377-7AAAF0F6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577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34F99-8162-4B07-9ABE-6529D53C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62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RG = 5.49 kΩ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8DDF1-2FAE-4937-8F85-DC2665B0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71950"/>
            <a:ext cx="857250" cy="685800"/>
          </a:xfrm>
          <a:custGeom xmlns:a="http://schemas.openxmlformats.org/drawingml/2006/main">
            <a:pathLst>
              <a:path w="857250" h="685800">
                <a:moveTo>
                  <a:pt x="0" y="685800"/>
                </a:moveTo>
                <a:lnTo>
                  <a:pt x="857250" y="685800"/>
                </a:ln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160B7-98F1-4552-853C-930029A5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2F794-7632-4D37-BE10-5993DE9B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REF = 1.65 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288A1-A4B8-4315-8ECA-1AEE7EAB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G = 1 + 49.4 kΩ / RG ≈ 9.998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DF0B1-F474-4836-9EBD-A43811B2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Model/solver compatibility fails its expected-gain check. This does not describe a measured INA826 or BioAmp.</a:t>
            </a:r>
          </a:p>
        </p:txBody>
      </p:sp>
    </p:spTree>
    <p:extLst>
      <p:ext uri="{BB962C8B-B14F-4D97-AF65-F5344CB8AC3E}">
        <p14:creationId xmlns:p14="http://schemas.microsoft.com/office/powerpoint/2010/main" val="3419973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3F4081-4C86-4035-8283-697C734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Educational high-pass circuit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7621D-12EA-43FC-A288-6CF28991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2CD07-7A82-42D4-88C0-122935C1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530F9-688B-4C35-B4F8-DB6F80A2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534C9-9AF6-45E4-8465-AE02978C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Vin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5E960-ABEE-4F63-B800-502FE458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43250"/>
            <a:ext cx="352425" cy="9525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7484A-DBF1-4446-9A3B-78AA1EF8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337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C0A86-7F1C-48CE-9907-DC594C68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337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4DB00-0F17-401E-8611-B85E2CFE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43250"/>
            <a:ext cx="352425" cy="9525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F9211-9EBC-43C8-8817-AF2FF09D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C1 = 100 nF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67C25-034A-4FCF-BDEE-7B00B60A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3250"/>
            <a:ext cx="2000250" cy="9525"/>
          </a:xfrm>
          <a:custGeom xmlns:a="http://schemas.openxmlformats.org/drawingml/2006/main">
            <a:pathLst>
              <a:path w="2000250" h="9525">
                <a:moveTo>
                  <a:pt x="0" y="0"/>
                </a:moveTo>
                <a:lnTo>
                  <a:pt x="1047750" y="0"/>
                </a:lnTo>
                <a:lnTo>
                  <a:pt x="200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41C02-D207-4D0F-905D-C913F0B6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352425" cy="9525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FAF6B-CFF6-48A7-BD94-47F5F19A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08F8B-408E-48A1-B384-1BCA594B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A7FFF-34A9-4F0E-8998-13A55CB8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352425" cy="9525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7F50F-DB2D-411A-BACB-4D204E69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C2 = 100 nF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A0332-8859-4F95-8724-FE87D127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2143125" cy="190500"/>
          </a:xfrm>
          <a:custGeom xmlns:a="http://schemas.openxmlformats.org/drawingml/2006/main">
            <a:pathLst>
              <a:path w="2143125" h="190500">
                <a:moveTo>
                  <a:pt x="0" y="190500"/>
                </a:moveTo>
                <a:lnTo>
                  <a:pt x="1000125" y="190500"/>
                </a:lnTo>
                <a:lnTo>
                  <a:pt x="1666875" y="190500"/>
                </a:lnTo>
                <a:lnTo>
                  <a:pt x="1666875" y="0"/>
                </a:ln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CEBDB-B065-4A3A-8AD0-D957C2F3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428750" cy="1428750"/>
          </a:xfrm>
          <a:custGeom xmlns:a="http://schemas.openxmlformats.org/drawingml/2006/main">
            <a:pathLst>
              <a:path w="1428750" h="1428750">
                <a:moveTo>
                  <a:pt x="0" y="0"/>
                </a:moveTo>
                <a:lnTo>
                  <a:pt x="1428750" y="714375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E8F8ED"/>
          </a:solidFill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10A7C-7996-4549-97E5-E7037AEF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5D685-724E-4CDB-A2CA-0D71952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5675F-BF05-4676-9028-2BE65C8A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050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Unity buffer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8326C-C58A-4308-A136-AF5D4E8C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1524000" cy="9525"/>
          </a:xfrm>
          <a:custGeom xmlns:a="http://schemas.openxmlformats.org/drawingml/2006/main"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647D3-29D6-451D-B03A-A5820CAD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Vout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03EBF-6F26-4BFA-9C1F-C0ED1B5C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9525" cy="1028700"/>
          </a:xfrm>
          <a:custGeom xmlns:a="http://schemas.openxmlformats.org/drawingml/2006/main"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9B2E9-0695-4EA4-A095-D383F694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9525" cy="142875"/>
          </a:xfrm>
          <a:custGeom xmlns:a="http://schemas.openxmlformats.org/drawingml/2006/main"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1142E6-A59E-4BAD-B332-C2DA5EBD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14825"/>
            <a:ext cx="19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0CC8A2-2C5B-46EF-B335-CA268256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9525" cy="142875"/>
          </a:xfrm>
          <a:custGeom xmlns:a="http://schemas.openxmlformats.org/drawingml/2006/main"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DEFA3B-DF8C-40BD-B6D5-D14EC5DB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767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R2 = 112.540 kΩ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0A6019-0393-4111-8A73-A72452A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9525" cy="238125"/>
          </a:xfrm>
          <a:custGeom xmlns:a="http://schemas.openxmlformats.org/drawingml/2006/main"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9A3CD8-BA22-40C1-88EC-86124F81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7682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031A30-9EFA-481B-8FAD-6E43B10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720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A52D27-66BC-48A3-9977-03B3DDCA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27D47D-110B-4835-9EE2-CB6DB89E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43525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03218-2763-4B26-8EBC-D4794D9A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38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AC 0 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6E748C-FF70-4789-AB9E-15A312D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47875"/>
            <a:ext cx="1381125" cy="1095375"/>
          </a:xfrm>
          <a:custGeom xmlns:a="http://schemas.openxmlformats.org/drawingml/2006/main">
            <a:pathLst>
              <a:path w="1381125" h="1095375">
                <a:moveTo>
                  <a:pt x="0" y="1095375"/>
                </a:moveTo>
                <a:lnTo>
                  <a:pt x="0" y="0"/>
                </a:lnTo>
                <a:lnTo>
                  <a:pt x="138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20F992-06CF-4D8C-A51B-EB870D3C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08714D-B4AA-4FDC-86A4-B6C28F94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FA8FE0-D177-4FC3-BCA4-EF8FA2A4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4787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71BFD9-49DB-4650-81F2-F612A229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525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R1 = 56.270 kΩ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D72AFF-691C-403B-BDED-9B2B81FA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4191000" cy="1238250"/>
          </a:xfrm>
          <a:custGeom xmlns:a="http://schemas.openxmlformats.org/drawingml/2006/main">
            <a:pathLst>
              <a:path w="4191000" h="1238250">
                <a:moveTo>
                  <a:pt x="0" y="0"/>
                </a:moveTo>
                <a:lnTo>
                  <a:pt x="4191000" y="0"/>
                </a:lnTo>
                <a:lnTo>
                  <a:pt x="4191000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46FC4D-8955-426A-A1DF-37EBF706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86125"/>
            <a:ext cx="2295525" cy="1304925"/>
          </a:xfrm>
          <a:custGeom xmlns:a="http://schemas.openxmlformats.org/drawingml/2006/main">
            <a:pathLst>
              <a:path w="2295525" h="1304925">
                <a:moveTo>
                  <a:pt x="2295525" y="0"/>
                </a:moveTo>
                <a:lnTo>
                  <a:pt x="2295525" y="1304925"/>
                </a:lnTo>
                <a:lnTo>
                  <a:pt x="0" y="1304925"/>
                </a:lnTo>
                <a:lnTo>
                  <a:pt x="0" y="333375"/>
                </a:lnTo>
                <a:lnTo>
                  <a:pt x="295275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06AFFD-69F1-4100-A701-28C5EEEE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509F3A-1D00-4960-9F3C-EEA8050D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DD9866-F64B-4A26-9C7D-0C665225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27A346-C3CD-4C95-8A6B-F316A700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59164E-65D0-466C-95FC-84FE925A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High-pass: f₀ = 20 Hz, Q = 0.7071. Single-supply biasing and real amplifier behavior are outside this test.</a:t>
            </a:r>
          </a:p>
        </p:txBody>
      </p:sp>
    </p:spTree>
    <p:extLst>
      <p:ext uri="{BB962C8B-B14F-4D97-AF65-F5344CB8AC3E}">
        <p14:creationId xmlns:p14="http://schemas.microsoft.com/office/powerpoint/2010/main" val="13986454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00F579-704E-45F6-9815-BC7AB268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Educational Sallen-Key low-pass circuit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BC35D-FD54-4704-9FB0-1B43C3A9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EAB05-C5F9-4A17-8D05-1C756A0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9DE2E-7010-44AD-A297-AECC1B9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AB32B-AA9B-4B62-AF4E-A11E9312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Vin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2015B-C5D2-4117-9B91-F3AC32DC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432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77127-BF95-47CE-A7D8-FD71AE64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0480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9166A-B70D-4DAA-B541-E8F1F191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1432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1B077-3DC8-4CA0-9D03-668144A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R1 = 32.676 kΩ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49ED4-CC95-47B8-B4B3-AF3D388C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43250"/>
            <a:ext cx="1857375" cy="9525"/>
          </a:xfrm>
          <a:custGeom xmlns:a="http://schemas.openxmlformats.org/drawingml/2006/main">
            <a:pathLst>
              <a:path w="1857375" h="9525">
                <a:moveTo>
                  <a:pt x="0" y="0"/>
                </a:moveTo>
                <a:lnTo>
                  <a:pt x="952500" y="0"/>
                </a:lnTo>
                <a:lnTo>
                  <a:pt x="1857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BECC9-6E97-4BE1-A611-CF3F61D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CBE09-D117-468A-8A97-890AF505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FF589-7BBA-4499-9042-FCE7D47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23F5E-ADB9-41FF-B704-811D1715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R2 = 32.676 kΩ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1416E-9681-4F91-AA92-11ACAFA2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2143125" cy="190500"/>
          </a:xfrm>
          <a:custGeom xmlns:a="http://schemas.openxmlformats.org/drawingml/2006/main">
            <a:pathLst>
              <a:path w="2143125" h="190500">
                <a:moveTo>
                  <a:pt x="0" y="190500"/>
                </a:moveTo>
                <a:lnTo>
                  <a:pt x="1000125" y="190500"/>
                </a:lnTo>
                <a:lnTo>
                  <a:pt x="1666875" y="190500"/>
                </a:lnTo>
                <a:lnTo>
                  <a:pt x="1666875" y="0"/>
                </a:ln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4349E-D4B6-4C1F-8DA3-FB6E85D4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428750" cy="1428750"/>
          </a:xfrm>
          <a:custGeom xmlns:a="http://schemas.openxmlformats.org/drawingml/2006/main">
            <a:pathLst>
              <a:path w="1428750" h="1428750">
                <a:moveTo>
                  <a:pt x="0" y="0"/>
                </a:moveTo>
                <a:lnTo>
                  <a:pt x="1428750" y="714375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E8F8ED"/>
          </a:solidFill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25459-B05C-49B3-8087-787B1B13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64254-5DF5-4BAA-8B51-A7536A2E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61181-DCD8-4BF5-A484-FB6C77B8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050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Unity buffer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8884B-420F-42D7-AA93-A9E33619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1524000" cy="9525"/>
          </a:xfrm>
          <a:custGeom xmlns:a="http://schemas.openxmlformats.org/drawingml/2006/main"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B6F14C-41A7-4634-82C0-0569EBE4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Vout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9A7FD-4DFF-4802-B719-E809946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9525" cy="1028700"/>
          </a:xfrm>
          <a:custGeom xmlns:a="http://schemas.openxmlformats.org/drawingml/2006/main"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A9B25-EB60-4114-9C5B-0FC73ABF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9525" cy="238125"/>
          </a:xfrm>
          <a:custGeom xmlns:a="http://schemas.openxmlformats.org/drawingml/2006/main"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3367A-F57F-43F4-8461-B2157858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100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B7346-3569-4180-BB39-65EB740A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4342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04FD7-7792-4548-BBA2-CDA0E8A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9525" cy="238125"/>
          </a:xfrm>
          <a:custGeom xmlns:a="http://schemas.openxmlformats.org/drawingml/2006/main"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ED87E-CC28-46A8-9C70-7A7B76CC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672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C2 = 10 nF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256312-65FE-4915-9F0D-12B7B77C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9525" cy="238125"/>
          </a:xfrm>
          <a:custGeom xmlns:a="http://schemas.openxmlformats.org/drawingml/2006/main"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8603C-1160-44A5-B15A-FF15AA5D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7682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A586A-A7E7-40F3-9D4D-E2E210E0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720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2CBAD-5E15-423E-95DA-80BCC9AD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B18A0-7EB7-4530-A691-FA695E69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43525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283091-EF49-4442-B2F4-DA12CBBB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38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AC 0 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7C81E-7AB5-4B85-938A-5DC2D9C7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47875"/>
            <a:ext cx="1381125" cy="1095375"/>
          </a:xfrm>
          <a:custGeom xmlns:a="http://schemas.openxmlformats.org/drawingml/2006/main">
            <a:pathLst>
              <a:path w="1381125" h="1095375">
                <a:moveTo>
                  <a:pt x="0" y="1095375"/>
                </a:moveTo>
                <a:lnTo>
                  <a:pt x="0" y="0"/>
                </a:lnTo>
                <a:lnTo>
                  <a:pt x="138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D5B6A7-D3B8-4199-A83F-C750DE55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47875"/>
            <a:ext cx="352425" cy="9525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9B7818-5124-42DF-909B-AC6F1CA0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38325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076066-004E-4CFF-998E-07EB5022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38325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F5337A-A0E3-4F1E-A1C1-3F5875C6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47875"/>
            <a:ext cx="352425" cy="9525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E25D39-E85A-4839-9CBD-300E83B4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57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C1 = 11.716 nF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31AA87-A416-4F04-882E-92FE785A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47875"/>
            <a:ext cx="4238625" cy="1238250"/>
          </a:xfrm>
          <a:custGeom xmlns:a="http://schemas.openxmlformats.org/drawingml/2006/main">
            <a:pathLst>
              <a:path w="4238625" h="1238250">
                <a:moveTo>
                  <a:pt x="0" y="0"/>
                </a:moveTo>
                <a:lnTo>
                  <a:pt x="4238625" y="0"/>
                </a:lnTo>
                <a:lnTo>
                  <a:pt x="42386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CE267F-C69B-473A-A91B-5B075255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86125"/>
            <a:ext cx="2295525" cy="1304925"/>
          </a:xfrm>
          <a:custGeom xmlns:a="http://schemas.openxmlformats.org/drawingml/2006/main">
            <a:pathLst>
              <a:path w="2295525" h="1304925">
                <a:moveTo>
                  <a:pt x="2295525" y="0"/>
                </a:moveTo>
                <a:lnTo>
                  <a:pt x="2295525" y="1304925"/>
                </a:lnTo>
                <a:lnTo>
                  <a:pt x="0" y="1304925"/>
                </a:lnTo>
                <a:lnTo>
                  <a:pt x="0" y="333375"/>
                </a:lnTo>
                <a:lnTo>
                  <a:pt x="295275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680EA6-9192-401B-B54D-90BB181C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219346-6D5E-45C2-97DA-4F1A8167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1B684C-F4F8-4E36-A428-33E72F3D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9FDA44-D361-4A4D-8C88-2AB602CB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9E4955-92D4-4680-AD35-42C56434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LP1: 450 Hz, Q = 0.5412. LP2 uses R1 = R2 = 13.535 kΩ, C1 = 68.284 nF, C2 = 10 nF.</a:t>
            </a:r>
          </a:p>
        </p:txBody>
      </p:sp>
    </p:spTree>
    <p:extLst>
      <p:ext uri="{BB962C8B-B14F-4D97-AF65-F5344CB8AC3E}">
        <p14:creationId xmlns:p14="http://schemas.microsoft.com/office/powerpoint/2010/main" val="2250128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48966-B2F7-4440-8356-5412C15C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Filter equations and the notch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1D69F-31BB-45D8-BD01-C312B324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BAEA9-FCE9-4FD9-A54F-BFA0BEB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75948-6990-4071-88A9-62C0A9D0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Second-order high-pass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A3858-77A9-4380-B76E-A0FD1F10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H(s) = s² / (s² + √2 ωh s + ωh²),  ωh = 2π ×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796BA-A68F-41F6-963A-74908A09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Optional 50 Hz notch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CEAB1-DD6A-41B2-BB3E-0F486A2B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H(s) = (s² + ωn²) / (s² + (ωn / Q)s + ωn²),  Q =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85D82-F464-4D73-8497-355E77E0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Fourth-order 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C4A1D-5AD2-4A89-9CCA-F0A5485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Two 450 Hz sections: Q ≈ 0.5412 and 1.3066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DE3A6-BD17-46DA-BBB0-916CE0B0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No physical notch topology is selected. The ideal-buffer R/C SPICE check omits the notch stage.</a:t>
            </a:r>
          </a:p>
        </p:txBody>
      </p:sp>
    </p:spTree>
    <p:extLst>
      <p:ext uri="{BB962C8B-B14F-4D97-AF65-F5344CB8AC3E}">
        <p14:creationId xmlns:p14="http://schemas.microsoft.com/office/powerpoint/2010/main" val="9801173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099D52-45FC-4563-A7E9-08FD99A6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Educational post-amplifier circuit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1CE0E-D43E-4AC4-BBEF-8229B795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EB299-75A3-485A-A236-47E39739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0A76D-FF88-467A-8F45-2C3DD2BD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000250" cy="2000250"/>
          </a:xfrm>
          <a:custGeom xmlns:a="http://schemas.openxmlformats.org/drawingml/2006/main">
            <a:pathLst>
              <a:path w="2000250" h="2000250">
                <a:moveTo>
                  <a:pt x="0" y="0"/>
                </a:moveTo>
                <a:lnTo>
                  <a:pt x="2000250" y="1000125"/>
                </a:lnTo>
                <a:lnTo>
                  <a:pt x="0" y="2000250"/>
                </a:lnTo>
                <a:close/>
              </a:path>
            </a:pathLst>
          </a:custGeom>
          <a:solidFill xmlns:a="http://schemas.openxmlformats.org/drawingml/2006/main">
            <a:srgbClr val="E8F8ED"/>
          </a:solidFill>
          <a:ln xmlns:a="http://schemas.openxmlformats.org/drawingml/2006/main" w="28575">
            <a:solidFill>
              <a:srgbClr val="0068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AE89D-DED0-4228-91AE-70E34628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935F1-AB4E-4163-B2C1-81857E9F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195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E76A8-A629-4FB8-A932-6067784B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240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OPA2376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482D0-20DD-4FFE-A84A-026A435D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FBFA3-8437-4D93-AAB3-E51350CF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Vref + Vac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EFC86-533D-4E6C-9A6E-D08FF3F6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B67C1-BB95-4535-9DCE-B342F90F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Vout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F5905-A183-41D5-AE5C-9F055FCE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10000"/>
            <a:ext cx="2000250" cy="1000125"/>
          </a:xfrm>
          <a:custGeom xmlns:a="http://schemas.openxmlformats.org/drawingml/2006/main">
            <a:pathLst>
              <a:path w="2000250" h="1000125">
                <a:moveTo>
                  <a:pt x="952500" y="0"/>
                </a:moveTo>
                <a:lnTo>
                  <a:pt x="0" y="0"/>
                </a:lnTo>
                <a:lnTo>
                  <a:pt x="0" y="1000125"/>
                </a:lnTo>
                <a:lnTo>
                  <a:pt x="2000250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0C4E9-67FA-4DB8-B209-1A4D6A48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4B912-4FA0-4DE6-9025-324D86B3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148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B5C0F-4192-4FBB-B32F-8E2A6E1A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01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B04B5-B533-4DF1-BCF0-9E0DEBF1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148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Rf = 49 kΩ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C51F2-AA7E-48C5-A087-EEFC09A2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2476500" cy="1619250"/>
          </a:xfrm>
          <a:custGeom xmlns:a="http://schemas.openxmlformats.org/drawingml/2006/main">
            <a:pathLst>
              <a:path w="2476500" h="1619250">
                <a:moveTo>
                  <a:pt x="0" y="1619250"/>
                </a:moveTo>
                <a:lnTo>
                  <a:pt x="2476500" y="1619250"/>
                </a:ln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B639A-9C09-4FFD-8411-D9FFA30A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1476375" cy="9525"/>
          </a:xfrm>
          <a:custGeom xmlns:a="http://schemas.openxmlformats.org/drawingml/2006/main">
            <a:pathLst>
              <a:path w="1476375" h="9525">
                <a:moveTo>
                  <a:pt x="1476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48986-13C1-4683-83CB-41CFAD17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6824A-E6DD-4D4D-A785-B08AED11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148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C47E2-0F19-48F2-BB17-280F0230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8101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276AC-B5EB-40DF-BC8C-3D6807F9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Rg = 1 kΩ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E57AC-2C37-40B5-A9C7-26414644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523875" cy="438150"/>
          </a:xfrm>
          <a:custGeom xmlns:a="http://schemas.openxmlformats.org/drawingml/2006/main">
            <a:pathLst>
              <a:path w="523875" h="438150">
                <a:moveTo>
                  <a:pt x="523875" y="0"/>
                </a:moveTo>
                <a:lnTo>
                  <a:pt x="0" y="0"/>
                </a:ln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CDB03-5A03-4F7F-A6B8-9A9152BD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97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Vref = 1.65 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14475-61D3-4888-A9D2-E63EF14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3875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G = 1 + Rf / Rg = 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583DB2-B648-4304-955C-F46FE62B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394480-E12F-4552-BB2C-B55016DF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40AF4-A0A8-4477-83BC-9FF1FB88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Feedback resistor values match the isolated SPICE netlist. Bias, supply and load matter in a physical circuit.</a:t>
            </a:r>
          </a:p>
        </p:txBody>
      </p:sp>
    </p:spTree>
    <p:extLst>
      <p:ext uri="{BB962C8B-B14F-4D97-AF65-F5344CB8AC3E}">
        <p14:creationId xmlns:p14="http://schemas.microsoft.com/office/powerpoint/2010/main" val="16923984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9D91B-030D-47B9-A7B8-FBBE97F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Gain, headroom and quantization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1B11E-36A2-4E25-8CB1-0A6CB329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9A341-86E1-497B-8910-9E6F49A5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AB025-3DCB-413A-8301-0B522188F80A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62103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Educational quantity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 and interpretation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First-stage gain × post gain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9.99818 × 50 ≈ 499.909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5 mV peak-to-peak input example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Approximately 2.50 Vpp before filter attenuation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Model reference and supply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1.65 V center within a 3.3 V supply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Assumed model output limits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0.1–3.2 V, not guaranteed device headroom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12-bit endpoint ADC spacing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3.3 / 4095 ≈ 0.806 mV per code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45FF9-CB0C-4E3B-ACDD-90324938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Digital baseline removal cannot recover analog saturation. These values do not calibrate the Uno/BioAmp setup.</a:t>
            </a:r>
          </a:p>
        </p:txBody>
      </p:sp>
    </p:spTree>
    <p:extLst>
      <p:ext uri="{BB962C8B-B14F-4D97-AF65-F5344CB8AC3E}">
        <p14:creationId xmlns:p14="http://schemas.microsoft.com/office/powerpoint/2010/main" val="132420948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34761-C256-459C-88F0-122012F6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Frequency response and spectral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FF254-1F13-4A94-B44B-6EBE6EB0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FFAD5-0DD7-4725-9ECE-3518B887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AEA33-F0AB-482B-8853-7B811B1DE2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37ce69ad74530"/>
          <a:stretch xmlns:a="http://schemas.openxmlformats.org/drawingml/2006/main"/>
        </p:blipFill>
        <p:spPr>
          <a:xfrm xmlns:a="http://schemas.openxmlformats.org/drawingml/2006/main">
            <a:off x="2667000" y="1562100"/>
            <a:ext cx="68580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CE031-16B9-4E88-923E-D136F914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Saved synthetic response: analog magnitude/phase, FFT amplitude and Welch power spectral density.</a:t>
            </a:r>
          </a:p>
        </p:txBody>
      </p:sp>
    </p:spTree>
    <p:extLst>
      <p:ext uri="{BB962C8B-B14F-4D97-AF65-F5344CB8AC3E}">
        <p14:creationId xmlns:p14="http://schemas.microsoft.com/office/powerpoint/2010/main" val="117287574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615AC-D3DD-4AB4-802B-527FAA70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EMG feature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FED5D-CC6B-43AC-AD1C-0D1F987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49658-5DE7-4E86-B0E7-970D72E7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127D4-8D46-4841-B6D8-414D7CE38205}"/>
              </a:ext>
            </a:extLst>
          </p:cNvPr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 or interpretation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RMS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sqrt(mean(x²)) measures effective signal amplitude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MAV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mean(abs(x)) summarizes rectified amplitude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Waveform length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sum(abs(Δx)) reflects amplitude and variation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Zero crossings / slope changes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Thresholded sign changes, using a 10 µV difference gate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Mean / median frequency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Power-weighted mean and cumulative-power midpoint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Feature windows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200 ms with a 100 ms hop; incomplete final windows dropped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622E9-11F8-4C20-835E-380C3CFC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Features use ADC-derived, input-referred samples and inherit the acquisition bandwidth and clipping limits.</a:t>
            </a:r>
          </a:p>
        </p:txBody>
      </p:sp>
    </p:spTree>
    <p:extLst>
      <p:ext uri="{BB962C8B-B14F-4D97-AF65-F5344CB8AC3E}">
        <p14:creationId xmlns:p14="http://schemas.microsoft.com/office/powerpoint/2010/main" val="2493337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FE807-3748-4E8D-A1F6-9C8514E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Anti-aliased FIR downsampling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9EBBC-619E-4AB2-96BF-553F4C49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90895-623B-4473-BD57-6B3FCC0E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5300E-44B7-4C3B-8993-2849C08BD6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233b6f2f14730"/>
          <a:stretch xmlns:a="http://schemas.openxmlformats.org/drawingml/2006/main"/>
        </p:blipFill>
        <p:spPr>
          <a:xfrm xmlns:a="http://schemas.openxmlformats.org/drawingml/2006/main">
            <a:off x="609600" y="1914525"/>
            <a:ext cx="7334250" cy="2933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8C757-27F0-4BC0-A7E1-1B6CDB20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62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161 taps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FAB44-C217-41E0-8BAF-9FC34A6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4 kHz to 1 kHz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F81E1-42EC-428D-BCD3-225B8197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24225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Ripple: 0.0083 dB</a:t>
            </a:r>
          </a:p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Stopband: 64.56 dB</a:t>
            </a:r>
          </a:p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Passband: 0–400 Hz</a:t>
            </a:r>
          </a:p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Stopband: from 500 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2DAF2-A07B-4CED-950B-D3904C87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Offline delay-compensated filtering retains boundary transients. This is not a stateful streaming decimator.</a:t>
            </a:r>
          </a:p>
        </p:txBody>
      </p:sp>
    </p:spTree>
    <p:extLst>
      <p:ext uri="{BB962C8B-B14F-4D97-AF65-F5344CB8AC3E}">
        <p14:creationId xmlns:p14="http://schemas.microsoft.com/office/powerpoint/2010/main" val="6823889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5CD4C-F0C2-404D-87A3-E7030E4B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Saved signal analysis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8FB4F-53A0-4AFE-BF0A-9A1022DC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4E480-ACF5-4A99-9139-875C4F73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8F563-338C-4A5C-9350-DD8E79A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Seed 42 · 2 seconds · 4 kHz · 8,000 samples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33AADD9-03C8-4868-A763-EA302C76D4F1}"/>
              </a:ext>
            </a:extLst>
          </p:cNvPr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7048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3f2ade73514d8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275EC-735B-4C71-ADED-F2E8224E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0.226 mV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1B15B-5787-44A9-B824-8F2A79A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Whole-trial 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76937-2123-4CE4-A4BC-A6F771C4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6712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211.7 Hz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9F0BF-F0E6-45C7-8440-0EEF7701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Mean frequency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04668-BE4A-42D1-8D81-435B8B2D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 modeled clipping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C1549-0098-42F3-9C44-A28BB822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Synthetic ADC-derived signal, referred to the model input. No physiological measurement.</a:t>
            </a:r>
          </a:p>
        </p:txBody>
      </p:sp>
    </p:spTree>
    <p:extLst>
      <p:ext uri="{BB962C8B-B14F-4D97-AF65-F5344CB8AC3E}">
        <p14:creationId xmlns:p14="http://schemas.microsoft.com/office/powerpoint/2010/main" val="18405620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D000E-7EBD-4AF5-9315-602B12EA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Synthetic motion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3096A-A971-40DC-8C99-7D576619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641E4-4483-44C7-B1E8-AD6E7FCD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54EA7-2344-4376-AB48-E7C20068BE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00afafe25419c"/>
          <a:stretch xmlns:a="http://schemas.openxmlformats.org/drawingml/2006/main"/>
        </p:blipFill>
        <p:spPr>
          <a:xfrm xmlns:a="http://schemas.openxmlformats.org/drawingml/2006/main">
            <a:off x="1828800" y="1581150"/>
            <a:ext cx="48006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DC62A-C5A7-42BA-9651-42C8A5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76425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Stationary</a:t>
            </a:r>
          </a:p>
          <a:p xmlns:a="http://schemas.openxmlformats.org/drawingml/2006/main">
            <a: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Repetitive movement</a:t>
            </a:r>
          </a:p>
          <a:p xmlns:a="http://schemas.openxmlformats.org/drawingml/2006/main">
            <a: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Tremor</a:t>
            </a:r>
          </a:p>
          <a:p xmlns:a="http://schemas.openxmlformats.org/drawingml/2006/main">
            <a: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Sudden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EBFEE-0D3D-454E-A0DC-B3A64950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100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Saved 6 Hz tremor scenario estimates 6.0 Hz.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7493A-E6BB-4774-B951-CD9F812C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All scenarios are generated. Expanded motion modes are outside the original gesture-training distribution.</a:t>
            </a:r>
          </a:p>
        </p:txBody>
      </p:sp>
    </p:spTree>
    <p:extLst>
      <p:ext uri="{BB962C8B-B14F-4D97-AF65-F5344CB8AC3E}">
        <p14:creationId xmlns:p14="http://schemas.microsoft.com/office/powerpoint/2010/main" val="5197159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7C100-DBEA-493C-A85F-9010A218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Optional PPG simulation and quality gating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9F085-9C5D-4F4A-809A-CB83CD5B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F51EC-47D3-4C53-8484-A5F22F7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C8765-A7FC-4B48-9608-80EDC798A4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10eaff6a64b12"/>
          <a:stretch xmlns:a="http://schemas.openxmlformats.org/drawingml/2006/main"/>
        </p:blipFill>
        <p:spPr>
          <a:xfrm xmlns:a="http://schemas.openxmlformats.org/drawingml/2006/main">
            <a:off x="1562100" y="1581150"/>
            <a:ext cx="53340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BFBA7-72FE-448C-8388-6BE45493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335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Clean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87FAF-A977-4A0E-BAD6-9D569D3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764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90 bpm generated</a:t>
            </a:r>
          </a:p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90.226 bpm estimated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259EF-D395-4CEE-9440-A574D361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814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HR withheld for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D0C0B-0754-48C0-A83F-206FCF4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05275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Motion artifact</a:t>
            </a:r>
          </a:p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Low perfusion</a:t>
            </a:r>
          </a:p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Dropout or short trials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7429B-9206-4CC4-873B-5B0FA01D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No working optical sensor is confirmed. Quality uses injected signal components. No measured HR or SpO₂.</a:t>
            </a:r>
          </a:p>
        </p:txBody>
      </p:sp>
    </p:spTree>
    <p:extLst>
      <p:ext uri="{BB962C8B-B14F-4D97-AF65-F5344CB8AC3E}">
        <p14:creationId xmlns:p14="http://schemas.microsoft.com/office/powerpoint/2010/main" val="176856492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FC2B9-2DBB-43B1-A3D7-03FB68013C3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76850" y="441007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F3F10-C7B1-4BCB-A142-953883E5707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9248775" y="2571750"/>
            <a:ext cx="2447925" cy="13430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7B8E2-6605-43F3-8239-67FBEB1B559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62850" y="21431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26DE9-F3EA-4A74-9312-7F274DEF6B0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43300" y="21431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84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461A3-4190-4C21-9F41-F686BA08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Machine learning evaluation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431FE-CDD8-4818-A6D0-3B69B4D0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88B11-414E-4998-9A14-1502BC0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06320-D0D1-454A-B936-DC3D2787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93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 synthetic trials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gesture classes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B86BB-1AF4-498E-A57D-820C49A7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93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200 ms windows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50% overlap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59108-48EB-4CE5-A438-50F1F77C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14500"/>
            <a:ext cx="293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570 windows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EMG + IMU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74FF6-9C9B-4FEF-A3BD-8FDE37B1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Three folds hold out complete trials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C37E3-E8BB-4C47-8FE4-9FAE23A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466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Training trials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Fit feature scaling +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229BF-B8A6-4D23-ABB5-A41CFCE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14775"/>
            <a:ext cx="466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Held-out trials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Predict once per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A1988-4535-4155-A0B2-B16A011E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Logistic Regression, SVM, Decision Tree, Random Forest, Gradient Boosting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3EDED-AE92-4C29-8227-B7C34789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Windows from the same trial never appear in both training and test data.</a:t>
            </a:r>
          </a:p>
        </p:txBody>
      </p:sp>
    </p:spTree>
    <p:extLst>
      <p:ext uri="{BB962C8B-B14F-4D97-AF65-F5344CB8AC3E}">
        <p14:creationId xmlns:p14="http://schemas.microsoft.com/office/powerpoint/2010/main" val="117743855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9B9D1-FDC1-4A69-AD95-409C0A9D7B2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39125" y="320516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A4015-450C-42B3-9A07-CE276213DF0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943350" y="3205163"/>
            <a:ext cx="1343025" cy="981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F29FC-69EB-4EE1-AF2C-228C469C443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43350" y="2185988"/>
            <a:ext cx="134302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684A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D5162-A2B2-4186-BF3E-2BA957B0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Feature fusion and synthetic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12AB4-4227-463F-80E1-4AF28589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83FAD-35E6-4421-AF0A-D4571CB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BAA85-1055-4B29-90F8-E0CC16D4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7 EMG features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Amplitude + spectrum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EBF88-D092-4DF4-8A14-F2C2FFF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8 IMU features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Acceleration, gyro, tilt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8FE4C-F68F-4A67-9FFB-E6C7476B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0510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 aligned features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200 ms window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1A0BA-E4DC-4AD6-8F18-518BEF76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2533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Fusion model</a:t>
            </a:r>
          </a:p>
          <a:p xmlns:a="http://schemas.openxmlformats.org/drawingml/2006/main">
            <a:pPr algn="ctr"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Probabilities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76EE8-573E-4BC2-ADBC-3090794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IMU features: mean ax/ay/az, RMS gx/gy/gz, mean pitch and roll.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3CD81-1220-47B8-8FC0-B96EFA35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Demonstration prediction averages probabilities across a generated trial. No live grip-quality or health predictor.</a:t>
            </a:r>
          </a:p>
        </p:txBody>
      </p:sp>
    </p:spTree>
    <p:extLst>
      <p:ext uri="{BB962C8B-B14F-4D97-AF65-F5344CB8AC3E}">
        <p14:creationId xmlns:p14="http://schemas.microsoft.com/office/powerpoint/2010/main" val="575011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28645-1692-4A5F-A14B-D201DD1F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All model and modality comparisons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303E8-BDFA-4957-909A-F63F3AAF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E2D33-8E7E-4D04-934E-AB9B27B0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75CD6-B716-45D4-9DF4-301224BC77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a56ed36534a88"/>
          <a:stretch xmlns:a="http://schemas.openxmlformats.org/drawingml/2006/main"/>
        </p:blipFill>
        <p:spPr>
          <a:xfrm xmlns:a="http://schemas.openxmlformats.org/drawingml/2006/main">
            <a:off x="1478280" y="1619250"/>
            <a:ext cx="9235440" cy="3848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6359B-A86E-4CE4-B824-BEE6D812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Out-of-fold macro-F1 on synthetic trials. Programmed motion makes high IMU scores easier to obtain.</a:t>
            </a:r>
          </a:p>
        </p:txBody>
      </p:sp>
    </p:spTree>
    <p:extLst>
      <p:ext uri="{BB962C8B-B14F-4D97-AF65-F5344CB8AC3E}">
        <p14:creationId xmlns:p14="http://schemas.microsoft.com/office/powerpoint/2010/main" val="178259788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A65A2-180F-4A14-8FE4-E2726933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Complete synthetic accuracy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C1009-CC08-4898-A076-C8CD7E15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BC3A9-5263-49E7-B5B0-703D9C3E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043B5-9205-431D-8DB8-CADF150AB3D9}"/>
              </a:ext>
            </a:extLst>
          </p:cNvPr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133600"/>
                <a:gridCol w="2133600"/>
                <a:gridCol w="213360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IMU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Fusion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35.61%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79.82%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82.11%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40.00%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71.75%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80.70%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Decision Tree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31.40%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88.25%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87.72%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35.09%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98.95%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90.53%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Gradient Boosting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36.49%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98.95%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98.77%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284E2-9015-4851-AF32-E2CAA71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High IMU/fusion scores reflect programmed trajectories. These scores do not establish human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1644561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40827-EE2A-41BB-99A6-E2582240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Evaluation safeguards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E2058-5286-454E-945B-C0429143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2BC7F-CC30-4953-90CA-78097F6E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F2FCC-8476-45CE-AD5B-2DA34DCF98BA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9625"/>
                <a:gridCol w="6353175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 or limit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Trial-grouped outer folds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All overlapping windows from a trial stay together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Training-only preprocessing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Fit scaling within each training pipeline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Nested grouped SVM calibration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Avoid using outer test trials for probability fitting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500 trial-bootstrap resamples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Accuracy intervals condition on fixed fits, without retraining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Macro-F1 and Brier score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Compare class balance and probability error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No independent selection holdout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Same-fold model comparison can be optimistic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45398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39B59-B998-465D-A835-711A337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Synthetic machine learning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CE8C-05B7-46DB-BB2D-1BA6287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27BF9-C40A-4FDD-890F-05B77414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729498C-70F4-4BC4-BD2A-D46A19B8B088}"/>
              </a:ext>
            </a:extLst>
          </p:cNvPr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6953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6555e5b9a9473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7868D-FD7B-44B3-AD94-E68F6F7C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Random Forest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0D962-1323-4410-B656-B70A1AD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30 trials</a:t>
            </a:r>
          </a:p>
          <a:p xmlns:a="http://schemas.openxmlformats.org/drawingml/2006/main">
            <a: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570 windows</a:t>
            </a:r>
          </a:p>
          <a:p xmlns:a="http://schemas.openxmlformats.org/drawingml/2006/main">
            <a:pPr>
              <a:buNone/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 gesture classes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0A872-0BEC-49BC-9066-3D212F3A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3-fold trial-grouped evaluation keeps overlapping windows from the same trial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75BC3-09AE-438E-B953-0C0B084B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IMU outperforms fusion here. Programmed movement patterns limit generalization.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2620-2E07-4C2D-9A8F-93FD1B9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Synthetic results only. No independent model-selection holdout or human validation.</a:t>
            </a:r>
          </a:p>
        </p:txBody>
      </p:sp>
    </p:spTree>
    <p:extLst>
      <p:ext uri="{BB962C8B-B14F-4D97-AF65-F5344CB8AC3E}">
        <p14:creationId xmlns:p14="http://schemas.microsoft.com/office/powerpoint/2010/main" val="44555521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752A5-DAEF-4AEE-9F8E-39361E46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Random Forest fusion confusion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7DA48-55BB-44D9-9BCA-76F4A652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E8DF2-5386-4880-BDA4-F01C3F94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E97C2-A912-43B6-82D3-17AF844AAF7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76550"/>
                <a:gridCol w="1619250"/>
                <a:gridCol w="1619250"/>
                <a:gridCol w="1619250"/>
                <a:gridCol w="1619250"/>
                <a:gridCol w="161925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/ predicted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Rotation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Grip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Extension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Flexion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Rotation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114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Grip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Rest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Extension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84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Flexion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98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AFDCB-79B5-4B86-9540-8118926C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Most errors occur between wrist extension and flexion. Counts sum to 570 held-out synthetic windows.</a:t>
            </a:r>
          </a:p>
        </p:txBody>
      </p:sp>
    </p:spTree>
    <p:extLst>
      <p:ext uri="{BB962C8B-B14F-4D97-AF65-F5344CB8AC3E}">
        <p14:creationId xmlns:p14="http://schemas.microsoft.com/office/powerpoint/2010/main" val="91984377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07DE7-A311-4C8F-83CB-0A9F5C63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Analytical white-noise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283C9-8A28-4E16-B3CF-A1623197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29A90-5CA2-466F-A316-6DFD52B9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6CFE3-901F-48E2-9239-F64EBB5F62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ed7c56b614584"/>
          <a:stretch xmlns:a="http://schemas.openxmlformats.org/drawingml/2006/main"/>
        </p:blipFill>
        <p:spPr>
          <a:xfrm xmlns:a="http://schemas.openxmlformats.org/drawingml/2006/main">
            <a:off x="861332" y="1562100"/>
            <a:ext cx="7021286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2ABFD-3BA3-491B-8876-706033A1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383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294.170 µV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B9952-1836-4797-B722-0EC337C7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146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Output RMS, 20–450 Hz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C90C2-1822-4A2B-A7D6-0EF3479C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528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0.588448 µV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5CD65-27EA-4B2D-9D86-9D033D46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Referred through nominal gain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886A2-1750-4DC9-BF2D-2F746DA2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Uncorrelated sources combine in quadrature. No 1/f, PCB, reference, supply, physical notch or ADC alias noise.</a:t>
            </a:r>
          </a:p>
        </p:txBody>
      </p:sp>
    </p:spTree>
    <p:extLst>
      <p:ext uri="{BB962C8B-B14F-4D97-AF65-F5344CB8AC3E}">
        <p14:creationId xmlns:p14="http://schemas.microsoft.com/office/powerpoint/2010/main" val="94274528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587D5-B2A6-46A8-A31D-0CB64723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Engineering and software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B199-46BF-4615-926D-5A701FE5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C7B22-426F-4B24-8AB9-F632202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3E4E3-DC88-414F-8C56-25329C17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SPICE: partial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4088F-F4C1-43C0-91DC-F455D39F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Ideal R/C response agrees</a:t>
            </a:r>
          </a:p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within 1.45 x 10^-7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OPA2376 gain check passed.</a:t>
            </a:r>
          </a:p>
          <a:p xmlns:a="http://schemas.openxmlformats.org/drawingml/2006/main">
            <a:pPr>
              <a:buNone/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INA826 gain check failed.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F2931-CAC7-493D-990B-39EBB51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Recorded software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EE01A-2070-452F-AD7C-34B078AC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62 backend tests passed</a:t>
            </a:r>
          </a:p>
          <a:p xmlns:a="http://schemas.openxmlformats.org/drawingml/2006/main">
            <a: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Build and ESLint passed</a:t>
            </a:r>
          </a:p>
          <a:p xmlns:a="http://schemas.openxmlformats.org/drawingml/2006/main">
            <a:pPr>
              <a:buNone/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7 browser cases across two runs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4DDA2-170C-4CB7-864E-003F3E6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240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Component tolerance study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8D76F-6749-4843-AD0A-09549F8452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b17d8931643c2"/>
          <a:stretch xmlns:a="http://schemas.openxmlformats.org/drawingml/2006/main"/>
        </p:blipFill>
        <p:spPr>
          <a:xfrm xmlns:a="http://schemas.openxmlformats.org/drawingml/2006/main">
            <a:off x="5810250" y="2697956"/>
            <a:ext cx="5772150" cy="2405063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51689-7847-40FF-8217-43C16761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673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Saved analytical study. No physical hardware validation.</a:t>
            </a:r>
          </a:p>
        </p:txBody>
      </p:sp>
    </p:spTree>
    <p:extLst>
      <p:ext uri="{BB962C8B-B14F-4D97-AF65-F5344CB8AC3E}">
        <p14:creationId xmlns:p14="http://schemas.microsoft.com/office/powerpoint/2010/main" val="161845534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65930-9B8E-4C18-844B-B102E249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SPICE circuit outputs and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40DA6-A10A-4207-A8EC-33CE3CA6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8D538-1AFE-4B0C-8F31-5DCD7F08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BD5F2-A105-4C5F-BFA4-8A9904C274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5b8122afc4092"/>
          <a:stretch xmlns:a="http://schemas.openxmlformats.org/drawingml/2006/main"/>
        </p:blipFill>
        <p:spPr>
          <a:xfrm xmlns:a="http://schemas.openxmlformats.org/drawingml/2006/main">
            <a:off x="861332" y="1562100"/>
            <a:ext cx="7021286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66C62-9337-4872-81C1-1224A576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526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Ideal circuit passes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B5110-D277-416A-B593-C0EE264F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098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AC, transient and resistor-noise outputs are saved.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F6ACA-A255-4983-B0FA-844AF7A9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386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Device status: partial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20CA5-0EB3-40BC-ACC5-23B4A4E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OPA gain passes. INA compatibility fails.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573AD-1CA9-4280-A731-81492240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The ideal-buffer netlist omits notch and rail limits. A solver exit code alone never establishes a passed result.</a:t>
            </a:r>
          </a:p>
        </p:txBody>
      </p:sp>
    </p:spTree>
    <p:extLst>
      <p:ext uri="{BB962C8B-B14F-4D97-AF65-F5344CB8AC3E}">
        <p14:creationId xmlns:p14="http://schemas.microsoft.com/office/powerpoint/2010/main" val="75976224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00C26-125E-49FF-B46F-362D24B5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Software verification and measured optimization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6F579-EA7E-4C4A-8444-1BD1C148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8B2AA-6BE9-4368-AA81-79D1C4CB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27BA4-E546-4245-A973-285715F1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62 backend tests passed. Build and ESLint passed.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9CE86-F2FC-430B-8BB4-6C182F6B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All 7 browser cases passed across a full run and a targeted rerun.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08E68-30DC-4CD4-A0D0-DBABE7F8E44D}"/>
              </a:ext>
            </a:extLst>
          </p:cNvPr>
          <p:cNvGraphicFramePr/>
          <p:nvPr/>
        </p:nvGraphicFramePr>
        <p:xfrm>
          <a:off xmlns:a="http://schemas.openxmlformats.org/drawingml/2006/main" x="609600" y="3419475"/>
          <a:ext xmlns:a="http://schemas.openxmlformats.org/drawingml/2006/main" cx="109728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Computation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200-draw tolerance sweep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0.3440 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0.0295 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Default full analysis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1.6732 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1.4191 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Prediction input preparation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1.6732 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1.3171 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5095C-C6ED-498C-B83C-60653972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Local warm-call medians. Excludes HTTP serialization, browser rendering and model probability evaluation.</a:t>
            </a:r>
          </a:p>
        </p:txBody>
      </p:sp>
    </p:spTree>
    <p:extLst>
      <p:ext uri="{BB962C8B-B14F-4D97-AF65-F5344CB8AC3E}">
        <p14:creationId xmlns:p14="http://schemas.microsoft.com/office/powerpoint/2010/main" val="123762373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DCA49-60CE-4375-A9F8-EB040761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Demonstration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12902-8E57-48F0-9B23-7D4808DF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BC55A-D9BD-41C0-887F-379436C8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F4ABD-3F41-47EA-885D-9AD12881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D68D8-B13E-40B0-9729-F81B58D4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764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2F8E2-333F-489D-A7BD-A44763ED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577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Confirm inventory, simulation source and unavailable channels.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41096-59D9-40C8-8C80-95DD448E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E0722-52EF-4FB6-A760-CB71DDDE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EMG and analog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12512-065E-4485-A343-EAF8358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14600"/>
            <a:ext cx="577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Change gain, interference or notch and inspect regenerated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FC27A-965C-4180-A71C-9CCF2243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CEB24-E1E9-4E0B-9C5D-5F483688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Motion and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811E3-E86A-40FE-B528-5BA59FBC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52800"/>
            <a:ext cx="577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Select a motion scenario and run the separate SPICE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73EEC-1DDA-4036-9555-354831EF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0E0AC-5D82-4EAB-904C-75B70C3B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A6476-1B71-4E1D-A5C6-494205CD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91000"/>
            <a:ext cx="577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Train the benchmark, inspect grouped results and predict a trial.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633B5-E984-40E2-8700-970231EC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4637B-DE4D-4029-A5B4-4A896CA2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292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AFC7F-9297-43FD-9F38-8D507423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29200"/>
            <a:ext cx="577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Download the completed numerical response with its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06087211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A6E2B-E1E8-4041-BC98-A2054D44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Current completion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77F2B-A19B-400E-B619-F15A1258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56E3F-613A-4658-BE98-639FDA8C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04C4E-3D9B-4F04-8F69-1D1AFF4FC4E1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implementation phase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Synthetic EMG and motion generation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Verify firmware, ADC and actual sample timing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Analog/DSP analysis and JSON export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Validated serial ingestion with disconnect handling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Grouped ML training and prediction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Baseline calibration and 35-second acquisition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Engineering checks and local dashboard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Raw recording, replay and real-data evaluation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198DA-65EB-40D4-B7A8-EBEC93E0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Unavailable measurements: grip force, SpO₂ and blood flow. No clinical claims.</a:t>
            </a:r>
          </a:p>
        </p:txBody>
      </p:sp>
    </p:spTree>
    <p:extLst>
      <p:ext uri="{BB962C8B-B14F-4D97-AF65-F5344CB8AC3E}">
        <p14:creationId xmlns:p14="http://schemas.microsoft.com/office/powerpoint/2010/main" val="105290191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05B37-6516-4E99-9A29-A5658CD2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Limitations and engineering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3BD04-5021-4100-B1EA-0B8D242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BAA3B-724E-4F20-90C6-E0BFEB59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2B25E-ED63-4CEB-8AA7-6A1B27411A80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467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305550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or limitation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Engineering response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Unknown acquisition contract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Verify firmware, ranges, timestamps and ADC reference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Low-rate stream and aliasing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Restrict features to demonstrated bandwidth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Motion and electrode artifacts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Keep signal quality visible and invalid data unavailable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Synthetic model generalization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Use independent real labels and participant/session holdouts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Partial circuit compatibility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Retain failed checks and validate in a supported simulator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Human-connected operation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Review the actual hardware setup before acquisition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24697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69B30-1EC5-4F75-977B-67D6879C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Implementation roadmap and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78401-6DB5-4D1C-8C2E-41D3A66B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9DFEC-DFCE-40DB-8731-3EA0125E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61AA3-FE25-4C25-883D-D2D4747C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BD79B-619A-4E37-94CA-0C187B9A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Verify acquisition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5F2C2-39D0-4564-B9DF-BAA532E0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85925"/>
            <a:ext cx="584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Board revision, sketch, sample timing, packet format and module settings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C9A42-A063-47E5-94A5-D6817EB8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EDFA3-16EC-4F2A-876E-583FD45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336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Add serial ingestion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45D8C-72FA-44DD-A9E2-9BDFBD9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33650"/>
            <a:ext cx="584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Finite fields, valid units, visible disconnects and no silent 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CB8C3-9485-4BDB-923F-901F2C46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6DBE1-3A5E-437E-87D9-466854E0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Record and replay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55A11-EF50-495B-BCE9-BCAF2134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81375"/>
            <a:ext cx="584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Complete raw packets, task events and timestamp-based playback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3710C-6FD3-47CE-A113-7772CD50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0C9F7-9787-4567-AD3F-84A96727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291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Analyze real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E0110-344F-4642-9396-03A45169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584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Baseline-aware activation, repetitions and motion stability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297A3-FA11-4725-A9BC-94C05D0C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E9047-5453-4CA9-BCCE-C5EA9759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768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Evaluate with real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8A2C0-38E9-40C0-8EAC-07599774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76825"/>
            <a:ext cx="584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Repeated sessions and held-out participants for new-person claims</a:t>
            </a:r>
          </a:p>
        </p:txBody>
      </p:sp>
    </p:spTree>
    <p:extLst>
      <p:ext uri="{BB962C8B-B14F-4D97-AF65-F5344CB8AC3E}">
        <p14:creationId xmlns:p14="http://schemas.microsoft.com/office/powerpoint/2010/main" val="42510211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E8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2F1E1-3D0F-4AA1-96E5-A1125B0B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Conclusion and 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67D65-C829-4219-AAF7-7598868C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E249C-2CC8-4FFF-84DF-07F443DA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5A8C0-B03F-4965-8619-F07EC17E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 reproducible laboratory for</a:t>
            </a:r>
          </a:p>
          <a:p xmlns:a="http://schemas.openxmlformats.org/drawingml/2006/main">
            <a:pPr>
              <a:buNone/>
              <a:defRPr sz="36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EMG and movement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35CF1-7F32-440D-9BF9-3EA51FB7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The project connects analog signal conditioning, digital analysis and grouped ML evaluation in one local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23693-3D81-4793-83FC-E0C346B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0BE17-11BF-4319-8BDE-2293836A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Verify the Uno/BioAmp/MPU-6050 stream, then complete one calibrated, recorded grip session.</a:t>
            </a:r>
          </a:p>
        </p:txBody>
      </p:sp>
    </p:spTree>
    <p:extLst>
      <p:ext uri="{BB962C8B-B14F-4D97-AF65-F5344CB8AC3E}">
        <p14:creationId xmlns:p14="http://schemas.microsoft.com/office/powerpoint/2010/main" val="92587870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3AFF9-68BA-4E87-8287-C3BB0BB1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References: sensors and circuit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BF4FD-3CB7-4A52-A679-AA844BF7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D1913-FF4D-4A72-BB20-7B84F620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1B489-6E56-4242-B5A1-9B592488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Upside Down Labs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C0A06-35B6-44F4-9CA1-83AAFD9B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66875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BioAmp EXG Pill documentation and v1.0b schematic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3FD7C-0B5A-48BE-9410-1836982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Arduino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C4C26-2265-4E9C-BC64-7E5D753E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05100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UNO R3 documentation and R3/R4 ADC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1008E-703A-4BA2-AEEC-8BB733B3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TDK InvenSense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D2733-D718-4346-9FCE-B1E1E9F6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43325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MPU-6000/MPU-6050 Product Specification, Rev. 3.4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5C27A-815E-493C-930B-119DC5DE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Texas Instruments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D1F1F-3C2D-4575-B619-0B65427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81550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1E2B"/>
                </a:solidFill>
                <a:latin typeface="Arial"/>
                <a:ea typeface="Arial"/>
                <a:cs typeface="Arial"/>
              </a:rPr>
              <a:t>INA826 SBOS562G and OPAx376 SBOS406G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8459E-F3D4-400B-AD1A-1B2A57F1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Manufacturer diagrams describe their published designs. They do not confirm the user’s exact board revision.</a:t>
            </a:r>
          </a:p>
        </p:txBody>
      </p:sp>
    </p:spTree>
    <p:extLst>
      <p:ext uri="{BB962C8B-B14F-4D97-AF65-F5344CB8AC3E}">
        <p14:creationId xmlns:p14="http://schemas.microsoft.com/office/powerpoint/2010/main" val="179191693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1C247-CE41-4242-AD79-55EE0862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1E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1E2B"/>
                </a:solidFill>
                <a:latin typeface="Arial"/>
                <a:ea typeface="Arial"/>
                <a:cs typeface="Arial"/>
              </a:rPr>
              <a:t>References: project implementation and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2684E-4A46-4441-A194-B3DDBBB0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ForearmSense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CB235-4A2D-4C29-9CF6-5BF64D47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84A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C3D09-E072-4B2C-ACEE-361157113F1A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4467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project sources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84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Scope and hardware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project.json; revised report; fixed-hardware-project-map.md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Analog and DSP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analog-design.md; dsp-pipeline.md; backend/app/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Engineering and SPICE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engineering-analysis.md; results/engineering/; results/spice/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Machine learning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ml-methodology.md; results/ml/metrics.json and benchmark report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Software and verification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architecture.md; verification.md; frontend/src/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8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Saved visual evidence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1E2B"/>
                          </a:solidFill>
                          <a:latin typeface="Arial"/>
                          <a:ea typeface="Arial"/>
                          <a:cs typeface="Arial"/>
                        </a:rPr>
                        <a:t>results/figures/; seeded trial and summary JSON files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044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2026-10-23T18:01:33.5010000Z</dcterms:created>
  <dcterms:modified xsi:type="dcterms:W3CDTF">2026-10-23T18:01:33.5010000Z</dcterms:modified>
</coreProperties>
</file>